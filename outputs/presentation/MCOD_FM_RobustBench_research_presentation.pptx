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E490C4B-9A8B-4DAF-8D1A-AE0D0E5ABC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MCOD-FM-RobustBench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01/17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Research-level presentation: paper review, dataset audit, preprocessing, baseline results</a:t>
            </a:r>
          </a:p>
        </p:txBody>
      </p:sp>
      <p:sp>
        <p:nvSpPr>
          <p:cNvPr id="11" name="Text 11"/>
          <p:cNvSpPr/>
          <p:nvPr/>
        </p:nvSpPr>
        <p:spPr>
          <a:xfrm>
            <a:off x="347472" y="868680"/>
            <a:ext cx="5029200" cy="9144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500" b="1">
                <a:solidFill>
                  <a:srgbClr val="17202A"/>
                </a:solidFill>
                <a:latin typeface="Aptos"/>
              </a:rPr>
              <a:t>Foundation-Model Promptability and Spectral-Degradation Robustness Benchmark</a:t>
            </a:r>
          </a:p>
          <a:p>
            <a:pPr algn="l">
              <a:lnSpc>
                <a:spcPct val="108000"/>
              </a:lnSpc>
            </a:pPr>
            <a:r>
              <a:rPr lang="en-US" sz="2500" b="1">
                <a:solidFill>
                  <a:srgbClr val="17202A"/>
                </a:solidFill>
                <a:latin typeface="Aptos"/>
              </a:rPr>
              <a:t>for Multispectral Camouflaged Object Detection</a:t>
            </a:r>
          </a:p>
        </p:txBody>
      </p:sp>
      <p:sp>
        <p:nvSpPr>
          <p:cNvPr id="12" name="Box 12"/>
          <p:cNvSpPr/>
          <p:nvPr/>
        </p:nvSpPr>
        <p:spPr>
          <a:xfrm>
            <a:off x="411480" y="2240280"/>
            <a:ext cx="162763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/>
          <p:nvPr/>
        </p:nvSpPr>
        <p:spPr>
          <a:xfrm>
            <a:off x="484632" y="2267712"/>
            <a:ext cx="658368" cy="29260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300" b="1">
                <a:solidFill>
                  <a:srgbClr val="0B6E69"/>
                </a:solidFill>
                <a:latin typeface="Aptos"/>
              </a:rPr>
              <a:t>1,527</a:t>
            </a:r>
          </a:p>
        </p:txBody>
      </p:sp>
      <p:sp>
        <p:nvSpPr>
          <p:cNvPr id="14" name="Text 14"/>
          <p:cNvSpPr/>
          <p:nvPr/>
        </p:nvSpPr>
        <p:spPr>
          <a:xfrm>
            <a:off x="484632" y="2615184"/>
            <a:ext cx="1325880" cy="20116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5D6D7E"/>
                </a:solidFill>
                <a:latin typeface="Aptos"/>
              </a:rPr>
              <a:t>MSI images</a:t>
            </a:r>
          </a:p>
        </p:txBody>
      </p:sp>
      <p:sp>
        <p:nvSpPr>
          <p:cNvPr id="15" name="Box 15"/>
          <p:cNvSpPr/>
          <p:nvPr/>
        </p:nvSpPr>
        <p:spPr>
          <a:xfrm>
            <a:off x="2404872" y="2240280"/>
            <a:ext cx="162763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" name="Text 16"/>
          <p:cNvSpPr/>
          <p:nvPr/>
        </p:nvSpPr>
        <p:spPr>
          <a:xfrm>
            <a:off x="2478024" y="2267712"/>
            <a:ext cx="658368" cy="29260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300" b="1">
                <a:solidFill>
                  <a:srgbClr val="0B6E69"/>
                </a:solidFill>
                <a:latin typeface="Aptos"/>
              </a:rPr>
              <a:t>8</a:t>
            </a:r>
          </a:p>
        </p:txBody>
      </p:sp>
      <p:sp>
        <p:nvSpPr>
          <p:cNvPr id="17" name="Text 17"/>
          <p:cNvSpPr/>
          <p:nvPr/>
        </p:nvSpPr>
        <p:spPr>
          <a:xfrm>
            <a:off x="2478024" y="2615184"/>
            <a:ext cx="1325880" cy="20116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5D6D7E"/>
                </a:solidFill>
                <a:latin typeface="Aptos"/>
              </a:rPr>
              <a:t>spectral bands</a:t>
            </a:r>
          </a:p>
        </p:txBody>
      </p:sp>
      <p:sp>
        <p:nvSpPr>
          <p:cNvPr id="18" name="Box 18"/>
          <p:cNvSpPr/>
          <p:nvPr/>
        </p:nvSpPr>
        <p:spPr>
          <a:xfrm>
            <a:off x="4398264" y="2240280"/>
            <a:ext cx="162763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/>
          <p:nvPr/>
        </p:nvSpPr>
        <p:spPr>
          <a:xfrm>
            <a:off x="4471416" y="2267712"/>
            <a:ext cx="658368" cy="29260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300" b="1">
                <a:solidFill>
                  <a:srgbClr val="0B6E69"/>
                </a:solidFill>
                <a:latin typeface="Aptos"/>
              </a:rPr>
              <a:t>500</a:t>
            </a:r>
          </a:p>
        </p:txBody>
      </p:sp>
      <p:sp>
        <p:nvSpPr>
          <p:cNvPr id="20" name="Text 20"/>
          <p:cNvSpPr/>
          <p:nvPr/>
        </p:nvSpPr>
        <p:spPr>
          <a:xfrm>
            <a:off x="4471416" y="2615184"/>
            <a:ext cx="1325880" cy="20116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5D6D7E"/>
                </a:solidFill>
                <a:latin typeface="Aptos"/>
              </a:rPr>
              <a:t>test split</a:t>
            </a:r>
          </a:p>
        </p:txBody>
      </p:sp>
      <p:sp>
        <p:nvSpPr>
          <p:cNvPr id="21" name="Box 21"/>
          <p:cNvSpPr/>
          <p:nvPr/>
        </p:nvSpPr>
        <p:spPr>
          <a:xfrm>
            <a:off x="6391656" y="2240280"/>
            <a:ext cx="162763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2" name="Text 22"/>
          <p:cNvSpPr/>
          <p:nvPr/>
        </p:nvSpPr>
        <p:spPr>
          <a:xfrm>
            <a:off x="6464808" y="2267712"/>
            <a:ext cx="658368" cy="29260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300" b="1">
                <a:solidFill>
                  <a:srgbClr val="0B6E69"/>
                </a:solidFill>
                <a:latin typeface="Aptos"/>
              </a:rPr>
              <a:t>11</a:t>
            </a:r>
          </a:p>
        </p:txBody>
      </p:sp>
      <p:sp>
        <p:nvSpPr>
          <p:cNvPr id="23" name="Text 23"/>
          <p:cNvSpPr/>
          <p:nvPr/>
        </p:nvSpPr>
        <p:spPr>
          <a:xfrm>
            <a:off x="6464808" y="2615184"/>
            <a:ext cx="1325880" cy="20116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5D6D7E"/>
                </a:solidFill>
                <a:latin typeface="Aptos"/>
              </a:rPr>
              <a:t>COD baselines</a:t>
            </a:r>
          </a:p>
        </p:txBody>
      </p:sp>
      <p:sp>
        <p:nvSpPr>
          <p:cNvPr id="24" name="Text 24"/>
          <p:cNvSpPr/>
          <p:nvPr/>
        </p:nvSpPr>
        <p:spPr>
          <a:xfrm>
            <a:off x="420624" y="3337560"/>
            <a:ext cx="7772400" cy="73152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0">
                <a:solidFill>
                  <a:srgbClr val="17202A"/>
                </a:solidFill>
                <a:latin typeface="Aptos"/>
              </a:rPr>
              <a:t>Core claim: RGB camouflage failures are partly spectral failures; MCOD lets us test whether non-visible bands make the object separable and robust.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Paper Review: Problem And Gap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02/17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MCOD: The First Challenging Benchmark for Multispectral Camouflaged Object Detection, ACM MM 2025</a:t>
            </a:r>
          </a:p>
        </p:txBody>
      </p:sp>
      <p:sp>
        <p:nvSpPr>
          <p:cNvPr id="11" name="Box 11"/>
          <p:cNvSpPr/>
          <p:nvPr/>
        </p:nvSpPr>
        <p:spPr>
          <a:xfrm>
            <a:off x="347472" y="841248"/>
            <a:ext cx="2468880" cy="3520440"/>
          </a:xfrm>
          <a:prstGeom prst="roundRect">
            <a:avLst/>
          </a:prstGeom>
          <a:solidFill>
            <a:srgbClr val="EEF3F2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/>
          <p:nvPr/>
        </p:nvSpPr>
        <p:spPr>
          <a:xfrm>
            <a:off x="457200" y="950976"/>
            <a:ext cx="2212848" cy="32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>
                <a:solidFill>
                  <a:srgbClr val="0B6E69"/>
                </a:solidFill>
                <a:latin typeface="Aptos"/>
              </a:rPr>
              <a:t>Why RGB COD saturates</a:t>
            </a:r>
          </a:p>
        </p:txBody>
      </p:sp>
      <p:sp>
        <p:nvSpPr>
          <p:cNvPr id="13" name="Text 13"/>
          <p:cNvSpPr/>
          <p:nvPr/>
        </p:nvSpPr>
        <p:spPr>
          <a:xfrm>
            <a:off x="475488" y="1371600"/>
            <a:ext cx="2148840" cy="233172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Objects share color and texture with their background.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Small targets and extreme illumination trigger missed detections.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Most prior COD datasets are RGB-only.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Existing COD networks are often architecture-heavy but modality-limited.</a:t>
            </a:r>
          </a:p>
        </p:txBody>
      </p:sp>
      <p:sp>
        <p:nvSpPr>
          <p:cNvPr id="14" name="Box 14"/>
          <p:cNvSpPr/>
          <p:nvPr/>
        </p:nvSpPr>
        <p:spPr>
          <a:xfrm>
            <a:off x="3063240" y="841248"/>
            <a:ext cx="2468880" cy="3520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/>
          <p:nvPr/>
        </p:nvSpPr>
        <p:spPr>
          <a:xfrm>
            <a:off x="3182112" y="950976"/>
            <a:ext cx="2212848" cy="32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>
                <a:solidFill>
                  <a:srgbClr val="2E5AAC"/>
                </a:solidFill>
                <a:latin typeface="Aptos"/>
              </a:rPr>
              <a:t>MCOD intervention</a:t>
            </a:r>
          </a:p>
        </p:txBody>
      </p:sp>
      <p:sp>
        <p:nvSpPr>
          <p:cNvPr id="16" name="Text 16"/>
          <p:cNvSpPr/>
          <p:nvPr/>
        </p:nvSpPr>
        <p:spPr>
          <a:xfrm>
            <a:off x="3200400" y="1371600"/>
            <a:ext cx="2148840" cy="233172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First public MSI benchmark for COD.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8 registered spectral channels per sample.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High-resolution 1140 x 860 imagery.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Pixel-level masks plus challenge attributes.</a:t>
            </a:r>
          </a:p>
        </p:txBody>
      </p:sp>
      <p:sp>
        <p:nvSpPr>
          <p:cNvPr id="17" name="Box 17"/>
          <p:cNvSpPr/>
          <p:nvPr/>
        </p:nvSpPr>
        <p:spPr>
          <a:xfrm>
            <a:off x="5788152" y="841248"/>
            <a:ext cx="2514600" cy="3520440"/>
          </a:xfrm>
          <a:prstGeom prst="roundRect">
            <a:avLst/>
          </a:prstGeom>
          <a:solidFill>
            <a:srgbClr val="FFF4E8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/>
          <p:nvPr/>
        </p:nvSpPr>
        <p:spPr>
          <a:xfrm>
            <a:off x="5907024" y="950976"/>
            <a:ext cx="2212848" cy="32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>
                <a:solidFill>
                  <a:srgbClr val="B75D00"/>
                </a:solidFill>
                <a:latin typeface="Aptos"/>
              </a:rPr>
              <a:t>Research implication</a:t>
            </a:r>
          </a:p>
        </p:txBody>
      </p:sp>
      <p:sp>
        <p:nvSpPr>
          <p:cNvPr id="19" name="Text 19"/>
          <p:cNvSpPr/>
          <p:nvPr/>
        </p:nvSpPr>
        <p:spPr>
          <a:xfrm>
            <a:off x="5925312" y="1371600"/>
            <a:ext cx="2148840" cy="233172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Foreground-background discrimination can come from material/spectral response, not just RGB appearance.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The benchmark opens a route for spectral fusion, spectral promptability, and degradation robustness.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Paper Review: Dataset Positioning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03/17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Compared with CHAMELEON, CAMO-COCO, NC4K, COD10K</a:t>
            </a:r>
          </a:p>
        </p:txBody>
      </p:sp>
      <p:sp>
        <p:nvSpPr>
          <p:cNvPr id="11" name="Box 11"/>
          <p:cNvSpPr/>
          <p:nvPr/>
        </p:nvSpPr>
        <p:spPr>
          <a:xfrm>
            <a:off x="329184" y="868680"/>
            <a:ext cx="1512541" cy="33528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/>
          <p:nvPr/>
        </p:nvSpPr>
        <p:spPr>
          <a:xfrm>
            <a:off x="344184" y="873680"/>
            <a:ext cx="1482541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13" name="Box 13"/>
          <p:cNvSpPr/>
          <p:nvPr/>
        </p:nvSpPr>
        <p:spPr>
          <a:xfrm>
            <a:off x="1841725" y="868680"/>
            <a:ext cx="665518" cy="33528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Text 14"/>
          <p:cNvSpPr/>
          <p:nvPr/>
        </p:nvSpPr>
        <p:spPr>
          <a:xfrm>
            <a:off x="1856725" y="87368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Year</a:t>
            </a:r>
          </a:p>
        </p:txBody>
      </p:sp>
      <p:sp>
        <p:nvSpPr>
          <p:cNvPr id="15" name="Box 15"/>
          <p:cNvSpPr/>
          <p:nvPr/>
        </p:nvSpPr>
        <p:spPr>
          <a:xfrm>
            <a:off x="2507243" y="868680"/>
            <a:ext cx="1028528" cy="33528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" name="Text 16"/>
          <p:cNvSpPr/>
          <p:nvPr/>
        </p:nvSpPr>
        <p:spPr>
          <a:xfrm>
            <a:off x="2522243" y="87368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Modality</a:t>
            </a:r>
          </a:p>
        </p:txBody>
      </p:sp>
      <p:sp>
        <p:nvSpPr>
          <p:cNvPr id="17" name="Box 17"/>
          <p:cNvSpPr/>
          <p:nvPr/>
        </p:nvSpPr>
        <p:spPr>
          <a:xfrm>
            <a:off x="3535771" y="868680"/>
            <a:ext cx="847023" cy="33528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/>
          <p:nvPr/>
        </p:nvSpPr>
        <p:spPr>
          <a:xfrm>
            <a:off x="3550771" y="873680"/>
            <a:ext cx="817023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Channels</a:t>
            </a:r>
          </a:p>
        </p:txBody>
      </p:sp>
      <p:sp>
        <p:nvSpPr>
          <p:cNvPr id="19" name="Box 19"/>
          <p:cNvSpPr/>
          <p:nvPr/>
        </p:nvSpPr>
        <p:spPr>
          <a:xfrm>
            <a:off x="4382794" y="868680"/>
            <a:ext cx="2299062" cy="33528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0" name="Text 20"/>
          <p:cNvSpPr/>
          <p:nvPr/>
        </p:nvSpPr>
        <p:spPr>
          <a:xfrm>
            <a:off x="4397794" y="873680"/>
            <a:ext cx="2269062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Resolution</a:t>
            </a:r>
          </a:p>
        </p:txBody>
      </p:sp>
      <p:sp>
        <p:nvSpPr>
          <p:cNvPr id="21" name="Box 21"/>
          <p:cNvSpPr/>
          <p:nvPr/>
        </p:nvSpPr>
        <p:spPr>
          <a:xfrm>
            <a:off x="6681856" y="868680"/>
            <a:ext cx="665518" cy="33528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2" name="Text 22"/>
          <p:cNvSpPr/>
          <p:nvPr/>
        </p:nvSpPr>
        <p:spPr>
          <a:xfrm>
            <a:off x="6696856" y="87368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Attr.</a:t>
            </a:r>
          </a:p>
        </p:txBody>
      </p:sp>
      <p:sp>
        <p:nvSpPr>
          <p:cNvPr id="23" name="Box 23"/>
          <p:cNvSpPr/>
          <p:nvPr/>
        </p:nvSpPr>
        <p:spPr>
          <a:xfrm>
            <a:off x="7347374" y="868680"/>
            <a:ext cx="1028528" cy="33528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4" name="Text 24"/>
          <p:cNvSpPr/>
          <p:nvPr/>
        </p:nvSpPr>
        <p:spPr>
          <a:xfrm>
            <a:off x="7362374" y="87368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Camo imgs</a:t>
            </a:r>
          </a:p>
        </p:txBody>
      </p:sp>
      <p:sp>
        <p:nvSpPr>
          <p:cNvPr id="25" name="Box 25"/>
          <p:cNvSpPr/>
          <p:nvPr/>
        </p:nvSpPr>
        <p:spPr>
          <a:xfrm>
            <a:off x="329184" y="1203960"/>
            <a:ext cx="1512541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6" name="Text 26"/>
          <p:cNvSpPr/>
          <p:nvPr/>
        </p:nvSpPr>
        <p:spPr>
          <a:xfrm>
            <a:off x="344184" y="1208960"/>
            <a:ext cx="1482541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CHAMELEON</a:t>
            </a:r>
          </a:p>
        </p:txBody>
      </p:sp>
      <p:sp>
        <p:nvSpPr>
          <p:cNvPr id="27" name="Box 27"/>
          <p:cNvSpPr/>
          <p:nvPr/>
        </p:nvSpPr>
        <p:spPr>
          <a:xfrm>
            <a:off x="1841725" y="1203960"/>
            <a:ext cx="66551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8" name="Text 28"/>
          <p:cNvSpPr/>
          <p:nvPr/>
        </p:nvSpPr>
        <p:spPr>
          <a:xfrm>
            <a:off x="1856725" y="120896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2017</a:t>
            </a:r>
          </a:p>
        </p:txBody>
      </p:sp>
      <p:sp>
        <p:nvSpPr>
          <p:cNvPr id="29" name="Box 29"/>
          <p:cNvSpPr/>
          <p:nvPr/>
        </p:nvSpPr>
        <p:spPr>
          <a:xfrm>
            <a:off x="2507243" y="1203960"/>
            <a:ext cx="102852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0" name="Text 30"/>
          <p:cNvSpPr/>
          <p:nvPr/>
        </p:nvSpPr>
        <p:spPr>
          <a:xfrm>
            <a:off x="2522243" y="120896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RGB</a:t>
            </a:r>
          </a:p>
        </p:txBody>
      </p:sp>
      <p:sp>
        <p:nvSpPr>
          <p:cNvPr id="31" name="Box 31"/>
          <p:cNvSpPr/>
          <p:nvPr/>
        </p:nvSpPr>
        <p:spPr>
          <a:xfrm>
            <a:off x="3535771" y="1203960"/>
            <a:ext cx="847023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2" name="Text 32"/>
          <p:cNvSpPr/>
          <p:nvPr/>
        </p:nvSpPr>
        <p:spPr>
          <a:xfrm>
            <a:off x="3550771" y="1208960"/>
            <a:ext cx="817023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3</a:t>
            </a:r>
          </a:p>
        </p:txBody>
      </p:sp>
      <p:sp>
        <p:nvSpPr>
          <p:cNvPr id="33" name="Box 33"/>
          <p:cNvSpPr/>
          <p:nvPr/>
        </p:nvSpPr>
        <p:spPr>
          <a:xfrm>
            <a:off x="4382794" y="1203960"/>
            <a:ext cx="2299062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4" name="Text 34"/>
          <p:cNvSpPr/>
          <p:nvPr/>
        </p:nvSpPr>
        <p:spPr>
          <a:xfrm>
            <a:off x="4397794" y="1208960"/>
            <a:ext cx="2269062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450x300 to 2304x34</a:t>
            </a:r>
          </a:p>
        </p:txBody>
      </p:sp>
      <p:sp>
        <p:nvSpPr>
          <p:cNvPr id="35" name="Box 35"/>
          <p:cNvSpPr/>
          <p:nvPr/>
        </p:nvSpPr>
        <p:spPr>
          <a:xfrm>
            <a:off x="6681856" y="1203960"/>
            <a:ext cx="66551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6" name="Text 36"/>
          <p:cNvSpPr/>
          <p:nvPr/>
        </p:nvSpPr>
        <p:spPr>
          <a:xfrm>
            <a:off x="6696856" y="120896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-</a:t>
            </a:r>
          </a:p>
        </p:txBody>
      </p:sp>
      <p:sp>
        <p:nvSpPr>
          <p:cNvPr id="37" name="Box 37"/>
          <p:cNvSpPr/>
          <p:nvPr/>
        </p:nvSpPr>
        <p:spPr>
          <a:xfrm>
            <a:off x="7347374" y="1203960"/>
            <a:ext cx="102852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8" name="Text 38"/>
          <p:cNvSpPr/>
          <p:nvPr/>
        </p:nvSpPr>
        <p:spPr>
          <a:xfrm>
            <a:off x="7362374" y="120896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76</a:t>
            </a:r>
          </a:p>
        </p:txBody>
      </p:sp>
      <p:sp>
        <p:nvSpPr>
          <p:cNvPr id="39" name="Box 39"/>
          <p:cNvSpPr/>
          <p:nvPr/>
        </p:nvSpPr>
        <p:spPr>
          <a:xfrm>
            <a:off x="329184" y="1539240"/>
            <a:ext cx="1512541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0" name="Text 40"/>
          <p:cNvSpPr/>
          <p:nvPr/>
        </p:nvSpPr>
        <p:spPr>
          <a:xfrm>
            <a:off x="344184" y="1544240"/>
            <a:ext cx="1482541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CAMO-COCO</a:t>
            </a:r>
          </a:p>
        </p:txBody>
      </p:sp>
      <p:sp>
        <p:nvSpPr>
          <p:cNvPr id="41" name="Box 41"/>
          <p:cNvSpPr/>
          <p:nvPr/>
        </p:nvSpPr>
        <p:spPr>
          <a:xfrm>
            <a:off x="1841725" y="1539240"/>
            <a:ext cx="66551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2" name="Text 42"/>
          <p:cNvSpPr/>
          <p:nvPr/>
        </p:nvSpPr>
        <p:spPr>
          <a:xfrm>
            <a:off x="1856725" y="154424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2019</a:t>
            </a:r>
          </a:p>
        </p:txBody>
      </p:sp>
      <p:sp>
        <p:nvSpPr>
          <p:cNvPr id="43" name="Box 43"/>
          <p:cNvSpPr/>
          <p:nvPr/>
        </p:nvSpPr>
        <p:spPr>
          <a:xfrm>
            <a:off x="2507243" y="1539240"/>
            <a:ext cx="102852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4" name="Text 44"/>
          <p:cNvSpPr/>
          <p:nvPr/>
        </p:nvSpPr>
        <p:spPr>
          <a:xfrm>
            <a:off x="2522243" y="154424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RGB</a:t>
            </a:r>
          </a:p>
        </p:txBody>
      </p:sp>
      <p:sp>
        <p:nvSpPr>
          <p:cNvPr id="45" name="Box 45"/>
          <p:cNvSpPr/>
          <p:nvPr/>
        </p:nvSpPr>
        <p:spPr>
          <a:xfrm>
            <a:off x="3535771" y="1539240"/>
            <a:ext cx="847023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6" name="Text 46"/>
          <p:cNvSpPr/>
          <p:nvPr/>
        </p:nvSpPr>
        <p:spPr>
          <a:xfrm>
            <a:off x="3550771" y="1544240"/>
            <a:ext cx="817023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3</a:t>
            </a:r>
          </a:p>
        </p:txBody>
      </p:sp>
      <p:sp>
        <p:nvSpPr>
          <p:cNvPr id="47" name="Box 47"/>
          <p:cNvSpPr/>
          <p:nvPr/>
        </p:nvSpPr>
        <p:spPr>
          <a:xfrm>
            <a:off x="4382794" y="1539240"/>
            <a:ext cx="2299062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8" name="Text 48"/>
          <p:cNvSpPr/>
          <p:nvPr/>
        </p:nvSpPr>
        <p:spPr>
          <a:xfrm>
            <a:off x="4397794" y="1544240"/>
            <a:ext cx="2269062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154x156 to 7360x4912</a:t>
            </a:r>
          </a:p>
        </p:txBody>
      </p:sp>
      <p:sp>
        <p:nvSpPr>
          <p:cNvPr id="49" name="Box 49"/>
          <p:cNvSpPr/>
          <p:nvPr/>
        </p:nvSpPr>
        <p:spPr>
          <a:xfrm>
            <a:off x="6681856" y="1539240"/>
            <a:ext cx="66551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0" name="Text 50"/>
          <p:cNvSpPr/>
          <p:nvPr/>
        </p:nvSpPr>
        <p:spPr>
          <a:xfrm>
            <a:off x="6696856" y="154424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7</a:t>
            </a:r>
          </a:p>
        </p:txBody>
      </p:sp>
      <p:sp>
        <p:nvSpPr>
          <p:cNvPr id="51" name="Box 51"/>
          <p:cNvSpPr/>
          <p:nvPr/>
        </p:nvSpPr>
        <p:spPr>
          <a:xfrm>
            <a:off x="7347374" y="1539240"/>
            <a:ext cx="102852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2" name="Text 52"/>
          <p:cNvSpPr/>
          <p:nvPr/>
        </p:nvSpPr>
        <p:spPr>
          <a:xfrm>
            <a:off x="7362374" y="154424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1,250</a:t>
            </a:r>
          </a:p>
        </p:txBody>
      </p:sp>
      <p:sp>
        <p:nvSpPr>
          <p:cNvPr id="53" name="Box 53"/>
          <p:cNvSpPr/>
          <p:nvPr/>
        </p:nvSpPr>
        <p:spPr>
          <a:xfrm>
            <a:off x="329184" y="1874520"/>
            <a:ext cx="1512541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4" name="Text 54"/>
          <p:cNvSpPr/>
          <p:nvPr/>
        </p:nvSpPr>
        <p:spPr>
          <a:xfrm>
            <a:off x="344184" y="1879520"/>
            <a:ext cx="1482541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NC4K</a:t>
            </a:r>
          </a:p>
        </p:txBody>
      </p:sp>
      <p:sp>
        <p:nvSpPr>
          <p:cNvPr id="55" name="Box 55"/>
          <p:cNvSpPr/>
          <p:nvPr/>
        </p:nvSpPr>
        <p:spPr>
          <a:xfrm>
            <a:off x="1841725" y="1874520"/>
            <a:ext cx="66551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6" name="Text 56"/>
          <p:cNvSpPr/>
          <p:nvPr/>
        </p:nvSpPr>
        <p:spPr>
          <a:xfrm>
            <a:off x="1856725" y="187952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2021</a:t>
            </a:r>
          </a:p>
        </p:txBody>
      </p:sp>
      <p:sp>
        <p:nvSpPr>
          <p:cNvPr id="57" name="Box 57"/>
          <p:cNvSpPr/>
          <p:nvPr/>
        </p:nvSpPr>
        <p:spPr>
          <a:xfrm>
            <a:off x="2507243" y="1874520"/>
            <a:ext cx="102852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8" name="Text 58"/>
          <p:cNvSpPr/>
          <p:nvPr/>
        </p:nvSpPr>
        <p:spPr>
          <a:xfrm>
            <a:off x="2522243" y="187952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RGB</a:t>
            </a:r>
          </a:p>
        </p:txBody>
      </p:sp>
      <p:sp>
        <p:nvSpPr>
          <p:cNvPr id="59" name="Box 59"/>
          <p:cNvSpPr/>
          <p:nvPr/>
        </p:nvSpPr>
        <p:spPr>
          <a:xfrm>
            <a:off x="3535771" y="1874520"/>
            <a:ext cx="847023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0" name="Text 60"/>
          <p:cNvSpPr/>
          <p:nvPr/>
        </p:nvSpPr>
        <p:spPr>
          <a:xfrm>
            <a:off x="3550771" y="1879520"/>
            <a:ext cx="817023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3</a:t>
            </a:r>
          </a:p>
        </p:txBody>
      </p:sp>
      <p:sp>
        <p:nvSpPr>
          <p:cNvPr id="61" name="Box 61"/>
          <p:cNvSpPr/>
          <p:nvPr/>
        </p:nvSpPr>
        <p:spPr>
          <a:xfrm>
            <a:off x="4382794" y="1874520"/>
            <a:ext cx="2299062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2" name="Text 62"/>
          <p:cNvSpPr/>
          <p:nvPr/>
        </p:nvSpPr>
        <p:spPr>
          <a:xfrm>
            <a:off x="4397794" y="1879520"/>
            <a:ext cx="2269062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354x268 to 1280x960</a:t>
            </a:r>
          </a:p>
        </p:txBody>
      </p:sp>
      <p:sp>
        <p:nvSpPr>
          <p:cNvPr id="63" name="Box 63"/>
          <p:cNvSpPr/>
          <p:nvPr/>
        </p:nvSpPr>
        <p:spPr>
          <a:xfrm>
            <a:off x="6681856" y="1874520"/>
            <a:ext cx="66551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4" name="Text 64"/>
          <p:cNvSpPr/>
          <p:nvPr/>
        </p:nvSpPr>
        <p:spPr>
          <a:xfrm>
            <a:off x="6696856" y="187952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-</a:t>
            </a:r>
          </a:p>
        </p:txBody>
      </p:sp>
      <p:sp>
        <p:nvSpPr>
          <p:cNvPr id="65" name="Box 65"/>
          <p:cNvSpPr/>
          <p:nvPr/>
        </p:nvSpPr>
        <p:spPr>
          <a:xfrm>
            <a:off x="7347374" y="1874520"/>
            <a:ext cx="102852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6" name="Text 66"/>
          <p:cNvSpPr/>
          <p:nvPr/>
        </p:nvSpPr>
        <p:spPr>
          <a:xfrm>
            <a:off x="7362374" y="187952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4,121</a:t>
            </a:r>
          </a:p>
        </p:txBody>
      </p:sp>
      <p:sp>
        <p:nvSpPr>
          <p:cNvPr id="67" name="Box 67"/>
          <p:cNvSpPr/>
          <p:nvPr/>
        </p:nvSpPr>
        <p:spPr>
          <a:xfrm>
            <a:off x="329184" y="2209800"/>
            <a:ext cx="1512541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8" name="Text 68"/>
          <p:cNvSpPr/>
          <p:nvPr/>
        </p:nvSpPr>
        <p:spPr>
          <a:xfrm>
            <a:off x="344184" y="2214800"/>
            <a:ext cx="1482541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COD10K</a:t>
            </a:r>
          </a:p>
        </p:txBody>
      </p:sp>
      <p:sp>
        <p:nvSpPr>
          <p:cNvPr id="69" name="Box 69"/>
          <p:cNvSpPr/>
          <p:nvPr/>
        </p:nvSpPr>
        <p:spPr>
          <a:xfrm>
            <a:off x="1841725" y="2209800"/>
            <a:ext cx="66551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0" name="Text 70"/>
          <p:cNvSpPr/>
          <p:nvPr/>
        </p:nvSpPr>
        <p:spPr>
          <a:xfrm>
            <a:off x="1856725" y="221480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2022</a:t>
            </a:r>
          </a:p>
        </p:txBody>
      </p:sp>
      <p:sp>
        <p:nvSpPr>
          <p:cNvPr id="71" name="Box 71"/>
          <p:cNvSpPr/>
          <p:nvPr/>
        </p:nvSpPr>
        <p:spPr>
          <a:xfrm>
            <a:off x="2507243" y="2209800"/>
            <a:ext cx="102852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2" name="Text 72"/>
          <p:cNvSpPr/>
          <p:nvPr/>
        </p:nvSpPr>
        <p:spPr>
          <a:xfrm>
            <a:off x="2522243" y="221480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RGB</a:t>
            </a:r>
          </a:p>
        </p:txBody>
      </p:sp>
      <p:sp>
        <p:nvSpPr>
          <p:cNvPr id="73" name="Box 73"/>
          <p:cNvSpPr/>
          <p:nvPr/>
        </p:nvSpPr>
        <p:spPr>
          <a:xfrm>
            <a:off x="3535771" y="2209800"/>
            <a:ext cx="847023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4" name="Text 74"/>
          <p:cNvSpPr/>
          <p:nvPr/>
        </p:nvSpPr>
        <p:spPr>
          <a:xfrm>
            <a:off x="3550771" y="2214800"/>
            <a:ext cx="817023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3</a:t>
            </a:r>
          </a:p>
        </p:txBody>
      </p:sp>
      <p:sp>
        <p:nvSpPr>
          <p:cNvPr id="75" name="Box 75"/>
          <p:cNvSpPr/>
          <p:nvPr/>
        </p:nvSpPr>
        <p:spPr>
          <a:xfrm>
            <a:off x="4382794" y="2209800"/>
            <a:ext cx="2299062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6" name="Text 76"/>
          <p:cNvSpPr/>
          <p:nvPr/>
        </p:nvSpPr>
        <p:spPr>
          <a:xfrm>
            <a:off x="4397794" y="2214800"/>
            <a:ext cx="2269062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300x199 to 2976x3968</a:t>
            </a:r>
          </a:p>
        </p:txBody>
      </p:sp>
      <p:sp>
        <p:nvSpPr>
          <p:cNvPr id="77" name="Box 77"/>
          <p:cNvSpPr/>
          <p:nvPr/>
        </p:nvSpPr>
        <p:spPr>
          <a:xfrm>
            <a:off x="6681856" y="2209800"/>
            <a:ext cx="66551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8" name="Text 78"/>
          <p:cNvSpPr/>
          <p:nvPr/>
        </p:nvSpPr>
        <p:spPr>
          <a:xfrm>
            <a:off x="6696856" y="221480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7</a:t>
            </a:r>
          </a:p>
        </p:txBody>
      </p:sp>
      <p:sp>
        <p:nvSpPr>
          <p:cNvPr id="79" name="Box 79"/>
          <p:cNvSpPr/>
          <p:nvPr/>
        </p:nvSpPr>
        <p:spPr>
          <a:xfrm>
            <a:off x="7347374" y="2209800"/>
            <a:ext cx="102852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0" name="Text 80"/>
          <p:cNvSpPr/>
          <p:nvPr/>
        </p:nvSpPr>
        <p:spPr>
          <a:xfrm>
            <a:off x="7362374" y="221480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5,066</a:t>
            </a:r>
          </a:p>
        </p:txBody>
      </p:sp>
      <p:sp>
        <p:nvSpPr>
          <p:cNvPr id="81" name="Box 81"/>
          <p:cNvSpPr/>
          <p:nvPr/>
        </p:nvSpPr>
        <p:spPr>
          <a:xfrm>
            <a:off x="329184" y="2545080"/>
            <a:ext cx="1512541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2" name="Text 82"/>
          <p:cNvSpPr/>
          <p:nvPr/>
        </p:nvSpPr>
        <p:spPr>
          <a:xfrm>
            <a:off x="344184" y="2550080"/>
            <a:ext cx="1482541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MCOD</a:t>
            </a:r>
          </a:p>
        </p:txBody>
      </p:sp>
      <p:sp>
        <p:nvSpPr>
          <p:cNvPr id="83" name="Box 83"/>
          <p:cNvSpPr/>
          <p:nvPr/>
        </p:nvSpPr>
        <p:spPr>
          <a:xfrm>
            <a:off x="1841725" y="2545080"/>
            <a:ext cx="66551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4" name="Text 84"/>
          <p:cNvSpPr/>
          <p:nvPr/>
        </p:nvSpPr>
        <p:spPr>
          <a:xfrm>
            <a:off x="1856725" y="255008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2025</a:t>
            </a:r>
          </a:p>
        </p:txBody>
      </p:sp>
      <p:sp>
        <p:nvSpPr>
          <p:cNvPr id="85" name="Box 85"/>
          <p:cNvSpPr/>
          <p:nvPr/>
        </p:nvSpPr>
        <p:spPr>
          <a:xfrm>
            <a:off x="2507243" y="2545080"/>
            <a:ext cx="102852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6" name="Text 86"/>
          <p:cNvSpPr/>
          <p:nvPr/>
        </p:nvSpPr>
        <p:spPr>
          <a:xfrm>
            <a:off x="2522243" y="255008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MSI</a:t>
            </a:r>
          </a:p>
        </p:txBody>
      </p:sp>
      <p:sp>
        <p:nvSpPr>
          <p:cNvPr id="87" name="Box 87"/>
          <p:cNvSpPr/>
          <p:nvPr/>
        </p:nvSpPr>
        <p:spPr>
          <a:xfrm>
            <a:off x="3535771" y="2545080"/>
            <a:ext cx="847023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8" name="Text 88"/>
          <p:cNvSpPr/>
          <p:nvPr/>
        </p:nvSpPr>
        <p:spPr>
          <a:xfrm>
            <a:off x="3550771" y="2550080"/>
            <a:ext cx="817023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8</a:t>
            </a:r>
          </a:p>
        </p:txBody>
      </p:sp>
      <p:sp>
        <p:nvSpPr>
          <p:cNvPr id="89" name="Box 89"/>
          <p:cNvSpPr/>
          <p:nvPr/>
        </p:nvSpPr>
        <p:spPr>
          <a:xfrm>
            <a:off x="4382794" y="2545080"/>
            <a:ext cx="2299062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0" name="Text 90"/>
          <p:cNvSpPr/>
          <p:nvPr/>
        </p:nvSpPr>
        <p:spPr>
          <a:xfrm>
            <a:off x="4397794" y="2550080"/>
            <a:ext cx="2269062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1140x860</a:t>
            </a:r>
          </a:p>
        </p:txBody>
      </p:sp>
      <p:sp>
        <p:nvSpPr>
          <p:cNvPr id="91" name="Box 91"/>
          <p:cNvSpPr/>
          <p:nvPr/>
        </p:nvSpPr>
        <p:spPr>
          <a:xfrm>
            <a:off x="6681856" y="2545080"/>
            <a:ext cx="66551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2" name="Text 92"/>
          <p:cNvSpPr/>
          <p:nvPr/>
        </p:nvSpPr>
        <p:spPr>
          <a:xfrm>
            <a:off x="6696856" y="2550080"/>
            <a:ext cx="63551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8</a:t>
            </a:r>
          </a:p>
        </p:txBody>
      </p:sp>
      <p:sp>
        <p:nvSpPr>
          <p:cNvPr id="93" name="Box 93"/>
          <p:cNvSpPr/>
          <p:nvPr/>
        </p:nvSpPr>
        <p:spPr>
          <a:xfrm>
            <a:off x="7347374" y="2545080"/>
            <a:ext cx="1028528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4" name="Text 94"/>
          <p:cNvSpPr/>
          <p:nvPr/>
        </p:nvSpPr>
        <p:spPr>
          <a:xfrm>
            <a:off x="7362374" y="2550080"/>
            <a:ext cx="998528" cy="3252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1,527</a:t>
            </a:r>
          </a:p>
        </p:txBody>
      </p:sp>
      <p:sp>
        <p:nvSpPr>
          <p:cNvPr id="96" name="Box 96"/>
          <p:cNvSpPr/>
          <p:nvPr/>
        </p:nvSpPr>
        <p:spPr>
          <a:xfrm>
            <a:off x="347472" y="3136392"/>
            <a:ext cx="8001000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7" name="Text 97"/>
          <p:cNvSpPr/>
          <p:nvPr/>
        </p:nvSpPr>
        <p:spPr>
          <a:xfrm>
            <a:off x="502920" y="3227832"/>
            <a:ext cx="7498079" cy="59436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b="0">
                <a:solidFill>
                  <a:srgbClr val="17202A"/>
                </a:solidFill>
                <a:latin typeface="Aptos"/>
              </a:rPr>
              <a:t>MCOD trades raw dataset size for richer sensing: calibrated multispectral capture, uniform spatial resolution, pixel masks, and explicit challenge attributes.</a:t>
            </a:r>
          </a:p>
          <a:p>
            <a:pPr algn="l">
              <a:lnSpc>
                <a:spcPct val="108000"/>
              </a:lnSpc>
            </a:pPr>
            <a:r>
              <a:rPr lang="en-US" sz="1200" b="0">
                <a:solidFill>
                  <a:srgbClr val="17202A"/>
                </a:solidFill>
                <a:latin typeface="Aptos"/>
              </a:rPr>
              <a:t>Paper statistic to remember: average object area is 0.429% of the image, far below COD10K's reported 8.94%.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Paper Review: Challenge Attributes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04/17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Eight difficulty labels define targeted evaluation subsets</a:t>
            </a:r>
          </a:p>
        </p:txBody>
      </p:sp>
      <p:sp>
        <p:nvSpPr>
          <p:cNvPr id="11" name="Box 11"/>
          <p:cNvSpPr/>
          <p:nvPr/>
        </p:nvSpPr>
        <p:spPr>
          <a:xfrm>
            <a:off x="384048" y="841248"/>
            <a:ext cx="601271" cy="476794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/>
          <p:nvPr/>
        </p:nvSpPr>
        <p:spPr>
          <a:xfrm>
            <a:off x="399048" y="846248"/>
            <a:ext cx="571271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sp>
        <p:nvSpPr>
          <p:cNvPr id="13" name="Box 13"/>
          <p:cNvSpPr/>
          <p:nvPr/>
        </p:nvSpPr>
        <p:spPr>
          <a:xfrm>
            <a:off x="985319" y="841248"/>
            <a:ext cx="1433800" cy="476794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Text 14"/>
          <p:cNvSpPr/>
          <p:nvPr/>
        </p:nvSpPr>
        <p:spPr>
          <a:xfrm>
            <a:off x="1000319" y="846248"/>
            <a:ext cx="1403800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15" name="Box 15"/>
          <p:cNvSpPr/>
          <p:nvPr/>
        </p:nvSpPr>
        <p:spPr>
          <a:xfrm>
            <a:off x="2419119" y="841248"/>
            <a:ext cx="1942567" cy="476794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" name="Text 16"/>
          <p:cNvSpPr/>
          <p:nvPr/>
        </p:nvSpPr>
        <p:spPr>
          <a:xfrm>
            <a:off x="2434119" y="846248"/>
            <a:ext cx="1912567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Failure pressure</a:t>
            </a:r>
          </a:p>
        </p:txBody>
      </p:sp>
      <p:sp>
        <p:nvSpPr>
          <p:cNvPr id="17" name="Box 17"/>
          <p:cNvSpPr/>
          <p:nvPr/>
        </p:nvSpPr>
        <p:spPr>
          <a:xfrm>
            <a:off x="384048" y="1318042"/>
            <a:ext cx="601271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/>
          <p:nvPr/>
        </p:nvSpPr>
        <p:spPr>
          <a:xfrm>
            <a:off x="399048" y="1323042"/>
            <a:ext cx="571271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SC</a:t>
            </a:r>
          </a:p>
        </p:txBody>
      </p:sp>
      <p:sp>
        <p:nvSpPr>
          <p:cNvPr id="19" name="Box 19"/>
          <p:cNvSpPr/>
          <p:nvPr/>
        </p:nvSpPr>
        <p:spPr>
          <a:xfrm>
            <a:off x="985319" y="1318042"/>
            <a:ext cx="1433800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0" name="Text 20"/>
          <p:cNvSpPr/>
          <p:nvPr/>
        </p:nvSpPr>
        <p:spPr>
          <a:xfrm>
            <a:off x="1000319" y="1323042"/>
            <a:ext cx="1403800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Shape Complex</a:t>
            </a:r>
          </a:p>
        </p:txBody>
      </p:sp>
      <p:sp>
        <p:nvSpPr>
          <p:cNvPr id="21" name="Box 21"/>
          <p:cNvSpPr/>
          <p:nvPr/>
        </p:nvSpPr>
        <p:spPr>
          <a:xfrm>
            <a:off x="2419119" y="1318042"/>
            <a:ext cx="1942567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2" name="Text 22"/>
          <p:cNvSpPr/>
          <p:nvPr/>
        </p:nvSpPr>
        <p:spPr>
          <a:xfrm>
            <a:off x="2434119" y="1323042"/>
            <a:ext cx="1912567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irregular boundaries</a:t>
            </a:r>
          </a:p>
        </p:txBody>
      </p:sp>
      <p:sp>
        <p:nvSpPr>
          <p:cNvPr id="23" name="Box 23"/>
          <p:cNvSpPr/>
          <p:nvPr/>
        </p:nvSpPr>
        <p:spPr>
          <a:xfrm>
            <a:off x="384048" y="1794836"/>
            <a:ext cx="601271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4" name="Text 24"/>
          <p:cNvSpPr/>
          <p:nvPr/>
        </p:nvSpPr>
        <p:spPr>
          <a:xfrm>
            <a:off x="399048" y="1799836"/>
            <a:ext cx="571271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SO</a:t>
            </a:r>
          </a:p>
        </p:txBody>
      </p:sp>
      <p:sp>
        <p:nvSpPr>
          <p:cNvPr id="25" name="Box 25"/>
          <p:cNvSpPr/>
          <p:nvPr/>
        </p:nvSpPr>
        <p:spPr>
          <a:xfrm>
            <a:off x="985319" y="1794836"/>
            <a:ext cx="1433800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6" name="Text 26"/>
          <p:cNvSpPr/>
          <p:nvPr/>
        </p:nvSpPr>
        <p:spPr>
          <a:xfrm>
            <a:off x="1000319" y="1799836"/>
            <a:ext cx="1403800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Small Object</a:t>
            </a:r>
          </a:p>
        </p:txBody>
      </p:sp>
      <p:sp>
        <p:nvSpPr>
          <p:cNvPr id="27" name="Box 27"/>
          <p:cNvSpPr/>
          <p:nvPr/>
        </p:nvSpPr>
        <p:spPr>
          <a:xfrm>
            <a:off x="2419119" y="1794836"/>
            <a:ext cx="1942567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8" name="Text 28"/>
          <p:cNvSpPr/>
          <p:nvPr/>
        </p:nvSpPr>
        <p:spPr>
          <a:xfrm>
            <a:off x="2434119" y="1799836"/>
            <a:ext cx="1912567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tiny object-to-image ratio</a:t>
            </a:r>
          </a:p>
        </p:txBody>
      </p:sp>
      <p:sp>
        <p:nvSpPr>
          <p:cNvPr id="29" name="Box 29"/>
          <p:cNvSpPr/>
          <p:nvPr/>
        </p:nvSpPr>
        <p:spPr>
          <a:xfrm>
            <a:off x="384048" y="2271630"/>
            <a:ext cx="601271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0" name="Text 30"/>
          <p:cNvSpPr/>
          <p:nvPr/>
        </p:nvSpPr>
        <p:spPr>
          <a:xfrm>
            <a:off x="399048" y="2276630"/>
            <a:ext cx="571271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OC</a:t>
            </a:r>
          </a:p>
        </p:txBody>
      </p:sp>
      <p:sp>
        <p:nvSpPr>
          <p:cNvPr id="31" name="Box 31"/>
          <p:cNvSpPr/>
          <p:nvPr/>
        </p:nvSpPr>
        <p:spPr>
          <a:xfrm>
            <a:off x="985319" y="2271630"/>
            <a:ext cx="1433800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2" name="Text 32"/>
          <p:cNvSpPr/>
          <p:nvPr/>
        </p:nvSpPr>
        <p:spPr>
          <a:xfrm>
            <a:off x="1000319" y="2276630"/>
            <a:ext cx="1403800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Object Occlusion</a:t>
            </a:r>
          </a:p>
        </p:txBody>
      </p:sp>
      <p:sp>
        <p:nvSpPr>
          <p:cNvPr id="33" name="Box 33"/>
          <p:cNvSpPr/>
          <p:nvPr/>
        </p:nvSpPr>
        <p:spPr>
          <a:xfrm>
            <a:off x="2419119" y="2271630"/>
            <a:ext cx="1942567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4" name="Text 34"/>
          <p:cNvSpPr/>
          <p:nvPr/>
        </p:nvSpPr>
        <p:spPr>
          <a:xfrm>
            <a:off x="2434119" y="2276630"/>
            <a:ext cx="1912567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partial visibility</a:t>
            </a:r>
          </a:p>
        </p:txBody>
      </p:sp>
      <p:sp>
        <p:nvSpPr>
          <p:cNvPr id="35" name="Box 35"/>
          <p:cNvSpPr/>
          <p:nvPr/>
        </p:nvSpPr>
        <p:spPr>
          <a:xfrm>
            <a:off x="384048" y="2748424"/>
            <a:ext cx="601271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6" name="Text 36"/>
          <p:cNvSpPr/>
          <p:nvPr/>
        </p:nvSpPr>
        <p:spPr>
          <a:xfrm>
            <a:off x="399048" y="2753424"/>
            <a:ext cx="571271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BS</a:t>
            </a:r>
          </a:p>
        </p:txBody>
      </p:sp>
      <p:sp>
        <p:nvSpPr>
          <p:cNvPr id="37" name="Box 37"/>
          <p:cNvSpPr/>
          <p:nvPr/>
        </p:nvSpPr>
        <p:spPr>
          <a:xfrm>
            <a:off x="985319" y="2748424"/>
            <a:ext cx="1433800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8" name="Text 38"/>
          <p:cNvSpPr/>
          <p:nvPr/>
        </p:nvSpPr>
        <p:spPr>
          <a:xfrm>
            <a:off x="1000319" y="2753424"/>
            <a:ext cx="1403800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Background Similarity</a:t>
            </a:r>
          </a:p>
        </p:txBody>
      </p:sp>
      <p:sp>
        <p:nvSpPr>
          <p:cNvPr id="39" name="Box 39"/>
          <p:cNvSpPr/>
          <p:nvPr/>
        </p:nvSpPr>
        <p:spPr>
          <a:xfrm>
            <a:off x="2419119" y="2748424"/>
            <a:ext cx="1942567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0" name="Text 40"/>
          <p:cNvSpPr/>
          <p:nvPr/>
        </p:nvSpPr>
        <p:spPr>
          <a:xfrm>
            <a:off x="2434119" y="2753424"/>
            <a:ext cx="1912567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weak RGB contrast</a:t>
            </a:r>
          </a:p>
        </p:txBody>
      </p:sp>
      <p:sp>
        <p:nvSpPr>
          <p:cNvPr id="41" name="Box 41"/>
          <p:cNvSpPr/>
          <p:nvPr/>
        </p:nvSpPr>
        <p:spPr>
          <a:xfrm>
            <a:off x="384048" y="3225218"/>
            <a:ext cx="601271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2" name="Text 42"/>
          <p:cNvSpPr/>
          <p:nvPr/>
        </p:nvSpPr>
        <p:spPr>
          <a:xfrm>
            <a:off x="399048" y="3230218"/>
            <a:ext cx="571271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UI/OE/II</a:t>
            </a:r>
          </a:p>
        </p:txBody>
      </p:sp>
      <p:sp>
        <p:nvSpPr>
          <p:cNvPr id="43" name="Box 43"/>
          <p:cNvSpPr/>
          <p:nvPr/>
        </p:nvSpPr>
        <p:spPr>
          <a:xfrm>
            <a:off x="985319" y="3225218"/>
            <a:ext cx="1433800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4" name="Text 44"/>
          <p:cNvSpPr/>
          <p:nvPr/>
        </p:nvSpPr>
        <p:spPr>
          <a:xfrm>
            <a:off x="1000319" y="3230218"/>
            <a:ext cx="1403800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Extreme Illumination</a:t>
            </a:r>
          </a:p>
        </p:txBody>
      </p:sp>
      <p:sp>
        <p:nvSpPr>
          <p:cNvPr id="45" name="Box 45"/>
          <p:cNvSpPr/>
          <p:nvPr/>
        </p:nvSpPr>
        <p:spPr>
          <a:xfrm>
            <a:off x="2419119" y="3225218"/>
            <a:ext cx="1942567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6" name="Text 46"/>
          <p:cNvSpPr/>
          <p:nvPr/>
        </p:nvSpPr>
        <p:spPr>
          <a:xfrm>
            <a:off x="2434119" y="3230218"/>
            <a:ext cx="1912567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lighting instability</a:t>
            </a:r>
          </a:p>
        </p:txBody>
      </p:sp>
      <p:sp>
        <p:nvSpPr>
          <p:cNvPr id="47" name="Box 47"/>
          <p:cNvSpPr/>
          <p:nvPr/>
        </p:nvSpPr>
        <p:spPr>
          <a:xfrm>
            <a:off x="384048" y="3702012"/>
            <a:ext cx="601271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8" name="Text 48"/>
          <p:cNvSpPr/>
          <p:nvPr/>
        </p:nvSpPr>
        <p:spPr>
          <a:xfrm>
            <a:off x="399048" y="3707012"/>
            <a:ext cx="571271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CB</a:t>
            </a:r>
          </a:p>
        </p:txBody>
      </p:sp>
      <p:sp>
        <p:nvSpPr>
          <p:cNvPr id="49" name="Box 49"/>
          <p:cNvSpPr/>
          <p:nvPr/>
        </p:nvSpPr>
        <p:spPr>
          <a:xfrm>
            <a:off x="985319" y="3702012"/>
            <a:ext cx="1433800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0" name="Text 50"/>
          <p:cNvSpPr/>
          <p:nvPr/>
        </p:nvSpPr>
        <p:spPr>
          <a:xfrm>
            <a:off x="1000319" y="3707012"/>
            <a:ext cx="1403800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Complex Background</a:t>
            </a:r>
          </a:p>
        </p:txBody>
      </p:sp>
      <p:sp>
        <p:nvSpPr>
          <p:cNvPr id="51" name="Box 51"/>
          <p:cNvSpPr/>
          <p:nvPr/>
        </p:nvSpPr>
        <p:spPr>
          <a:xfrm>
            <a:off x="2419119" y="3702012"/>
            <a:ext cx="1942567" cy="47679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2" name="Text 52"/>
          <p:cNvSpPr/>
          <p:nvPr/>
        </p:nvSpPr>
        <p:spPr>
          <a:xfrm>
            <a:off x="2434119" y="3707012"/>
            <a:ext cx="1912567" cy="466794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distractors and clutter</a:t>
            </a: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155" y="868680"/>
            <a:ext cx="3600450" cy="20574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124" y="2907792"/>
            <a:ext cx="1810512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Paper Review: Official Baseline Results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05/17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11 COD methods adapted from RGB input to 8-channel MSI input</a:t>
            </a:r>
          </a:p>
        </p:txBody>
      </p:sp>
      <p:sp>
        <p:nvSpPr>
          <p:cNvPr id="11" name="Box 11"/>
          <p:cNvSpPr/>
          <p:nvPr/>
        </p:nvSpPr>
        <p:spPr>
          <a:xfrm>
            <a:off x="274320" y="804672"/>
            <a:ext cx="1905154" cy="26289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/>
          <p:nvPr/>
        </p:nvSpPr>
        <p:spPr>
          <a:xfrm>
            <a:off x="289320" y="80967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13" name="Box 13"/>
          <p:cNvSpPr/>
          <p:nvPr/>
        </p:nvSpPr>
        <p:spPr>
          <a:xfrm>
            <a:off x="2179474" y="804672"/>
            <a:ext cx="1905154" cy="26289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Text 14"/>
          <p:cNvSpPr/>
          <p:nvPr/>
        </p:nvSpPr>
        <p:spPr>
          <a:xfrm>
            <a:off x="2194474" y="80967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1">
                <a:solidFill>
                  <a:srgbClr val="FFFFFF"/>
                </a:solidFill>
                <a:latin typeface="Aptos"/>
              </a:rPr>
              <a:t>Venue</a:t>
            </a:r>
          </a:p>
        </p:txBody>
      </p:sp>
      <p:sp>
        <p:nvSpPr>
          <p:cNvPr id="15" name="Box 15"/>
          <p:cNvSpPr/>
          <p:nvPr/>
        </p:nvSpPr>
        <p:spPr>
          <a:xfrm>
            <a:off x="4084628" y="804672"/>
            <a:ext cx="1027126" cy="26289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" name="Text 16"/>
          <p:cNvSpPr/>
          <p:nvPr/>
        </p:nvSpPr>
        <p:spPr>
          <a:xfrm>
            <a:off x="4099628" y="80967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1">
                <a:solidFill>
                  <a:srgbClr val="FFFFFF"/>
                </a:solidFill>
                <a:latin typeface="Aptos"/>
              </a:rPr>
              <a:t>E up</a:t>
            </a:r>
          </a:p>
        </p:txBody>
      </p:sp>
      <p:sp>
        <p:nvSpPr>
          <p:cNvPr id="17" name="Box 17"/>
          <p:cNvSpPr/>
          <p:nvPr/>
        </p:nvSpPr>
        <p:spPr>
          <a:xfrm>
            <a:off x="5111754" y="804672"/>
            <a:ext cx="1027126" cy="26289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/>
          <p:nvPr/>
        </p:nvSpPr>
        <p:spPr>
          <a:xfrm>
            <a:off x="5126754" y="80967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1">
                <a:solidFill>
                  <a:srgbClr val="FFFFFF"/>
                </a:solidFill>
                <a:latin typeface="Aptos"/>
              </a:rPr>
              <a:t>S up</a:t>
            </a:r>
          </a:p>
        </p:txBody>
      </p:sp>
      <p:sp>
        <p:nvSpPr>
          <p:cNvPr id="19" name="Box 19"/>
          <p:cNvSpPr/>
          <p:nvPr/>
        </p:nvSpPr>
        <p:spPr>
          <a:xfrm>
            <a:off x="6138880" y="804672"/>
            <a:ext cx="1027126" cy="26289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0" name="Text 20"/>
          <p:cNvSpPr/>
          <p:nvPr/>
        </p:nvSpPr>
        <p:spPr>
          <a:xfrm>
            <a:off x="6153880" y="80967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1">
                <a:solidFill>
                  <a:srgbClr val="FFFFFF"/>
                </a:solidFill>
                <a:latin typeface="Aptos"/>
              </a:rPr>
              <a:t>F up</a:t>
            </a:r>
          </a:p>
        </p:txBody>
      </p:sp>
      <p:sp>
        <p:nvSpPr>
          <p:cNvPr id="21" name="Box 21"/>
          <p:cNvSpPr/>
          <p:nvPr/>
        </p:nvSpPr>
        <p:spPr>
          <a:xfrm>
            <a:off x="7166006" y="804672"/>
            <a:ext cx="1292191" cy="26289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2" name="Text 22"/>
          <p:cNvSpPr/>
          <p:nvPr/>
        </p:nvSpPr>
        <p:spPr>
          <a:xfrm>
            <a:off x="7181006" y="80967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1">
                <a:solidFill>
                  <a:srgbClr val="FFFFFF"/>
                </a:solidFill>
                <a:latin typeface="Aptos"/>
              </a:rPr>
              <a:t>MAE down</a:t>
            </a:r>
          </a:p>
        </p:txBody>
      </p:sp>
      <p:sp>
        <p:nvSpPr>
          <p:cNvPr id="23" name="Box 23"/>
          <p:cNvSpPr/>
          <p:nvPr/>
        </p:nvSpPr>
        <p:spPr>
          <a:xfrm>
            <a:off x="274320" y="106756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4" name="Text 24"/>
          <p:cNvSpPr/>
          <p:nvPr/>
        </p:nvSpPr>
        <p:spPr>
          <a:xfrm>
            <a:off x="289320" y="107256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SINet</a:t>
            </a:r>
          </a:p>
        </p:txBody>
      </p:sp>
      <p:sp>
        <p:nvSpPr>
          <p:cNvPr id="25" name="Box 25"/>
          <p:cNvSpPr/>
          <p:nvPr/>
        </p:nvSpPr>
        <p:spPr>
          <a:xfrm>
            <a:off x="2179474" y="106756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6" name="Text 26"/>
          <p:cNvSpPr/>
          <p:nvPr/>
        </p:nvSpPr>
        <p:spPr>
          <a:xfrm>
            <a:off x="2194474" y="107256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CVPR 2020</a:t>
            </a:r>
          </a:p>
        </p:txBody>
      </p:sp>
      <p:sp>
        <p:nvSpPr>
          <p:cNvPr id="27" name="Box 27"/>
          <p:cNvSpPr/>
          <p:nvPr/>
        </p:nvSpPr>
        <p:spPr>
          <a:xfrm>
            <a:off x="4084628" y="106756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8" name="Text 28"/>
          <p:cNvSpPr/>
          <p:nvPr/>
        </p:nvSpPr>
        <p:spPr>
          <a:xfrm>
            <a:off x="4099628" y="107256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.758</a:t>
            </a:r>
          </a:p>
        </p:txBody>
      </p:sp>
      <p:sp>
        <p:nvSpPr>
          <p:cNvPr id="29" name="Box 29"/>
          <p:cNvSpPr/>
          <p:nvPr/>
        </p:nvSpPr>
        <p:spPr>
          <a:xfrm>
            <a:off x="5111754" y="106756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0" name="Text 30"/>
          <p:cNvSpPr/>
          <p:nvPr/>
        </p:nvSpPr>
        <p:spPr>
          <a:xfrm>
            <a:off x="5126754" y="107256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.616</a:t>
            </a:r>
          </a:p>
        </p:txBody>
      </p:sp>
      <p:sp>
        <p:nvSpPr>
          <p:cNvPr id="31" name="Box 31"/>
          <p:cNvSpPr/>
          <p:nvPr/>
        </p:nvSpPr>
        <p:spPr>
          <a:xfrm>
            <a:off x="6138880" y="106756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2" name="Text 32"/>
          <p:cNvSpPr/>
          <p:nvPr/>
        </p:nvSpPr>
        <p:spPr>
          <a:xfrm>
            <a:off x="6153880" y="107256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.369</a:t>
            </a:r>
          </a:p>
        </p:txBody>
      </p:sp>
      <p:sp>
        <p:nvSpPr>
          <p:cNvPr id="33" name="Box 33"/>
          <p:cNvSpPr/>
          <p:nvPr/>
        </p:nvSpPr>
        <p:spPr>
          <a:xfrm>
            <a:off x="7166006" y="1067562"/>
            <a:ext cx="1292191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4" name="Text 34"/>
          <p:cNvSpPr/>
          <p:nvPr/>
        </p:nvSpPr>
        <p:spPr>
          <a:xfrm>
            <a:off x="7181006" y="107256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.006</a:t>
            </a:r>
          </a:p>
        </p:txBody>
      </p:sp>
      <p:sp>
        <p:nvSpPr>
          <p:cNvPr id="35" name="Box 35"/>
          <p:cNvSpPr/>
          <p:nvPr/>
        </p:nvSpPr>
        <p:spPr>
          <a:xfrm>
            <a:off x="274320" y="133045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6" name="Text 36"/>
          <p:cNvSpPr/>
          <p:nvPr/>
        </p:nvSpPr>
        <p:spPr>
          <a:xfrm>
            <a:off x="289320" y="133545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LSR</a:t>
            </a:r>
          </a:p>
        </p:txBody>
      </p:sp>
      <p:sp>
        <p:nvSpPr>
          <p:cNvPr id="37" name="Box 37"/>
          <p:cNvSpPr/>
          <p:nvPr/>
        </p:nvSpPr>
        <p:spPr>
          <a:xfrm>
            <a:off x="2179474" y="133045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8" name="Text 38"/>
          <p:cNvSpPr/>
          <p:nvPr/>
        </p:nvSpPr>
        <p:spPr>
          <a:xfrm>
            <a:off x="2194474" y="133545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CVPR 2021</a:t>
            </a:r>
          </a:p>
        </p:txBody>
      </p:sp>
      <p:sp>
        <p:nvSpPr>
          <p:cNvPr id="39" name="Box 39"/>
          <p:cNvSpPr/>
          <p:nvPr/>
        </p:nvSpPr>
        <p:spPr>
          <a:xfrm>
            <a:off x="4084628" y="133045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0" name="Text 40"/>
          <p:cNvSpPr/>
          <p:nvPr/>
        </p:nvSpPr>
        <p:spPr>
          <a:xfrm>
            <a:off x="4099628" y="133545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.830</a:t>
            </a:r>
          </a:p>
        </p:txBody>
      </p:sp>
      <p:sp>
        <p:nvSpPr>
          <p:cNvPr id="41" name="Box 41"/>
          <p:cNvSpPr/>
          <p:nvPr/>
        </p:nvSpPr>
        <p:spPr>
          <a:xfrm>
            <a:off x="5111754" y="133045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2" name="Text 42"/>
          <p:cNvSpPr/>
          <p:nvPr/>
        </p:nvSpPr>
        <p:spPr>
          <a:xfrm>
            <a:off x="5126754" y="133545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.625</a:t>
            </a:r>
          </a:p>
        </p:txBody>
      </p:sp>
      <p:sp>
        <p:nvSpPr>
          <p:cNvPr id="43" name="Box 43"/>
          <p:cNvSpPr/>
          <p:nvPr/>
        </p:nvSpPr>
        <p:spPr>
          <a:xfrm>
            <a:off x="6138880" y="133045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4" name="Text 44"/>
          <p:cNvSpPr/>
          <p:nvPr/>
        </p:nvSpPr>
        <p:spPr>
          <a:xfrm>
            <a:off x="6153880" y="133545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.373</a:t>
            </a:r>
          </a:p>
        </p:txBody>
      </p:sp>
      <p:sp>
        <p:nvSpPr>
          <p:cNvPr id="45" name="Box 45"/>
          <p:cNvSpPr/>
          <p:nvPr/>
        </p:nvSpPr>
        <p:spPr>
          <a:xfrm>
            <a:off x="7166006" y="1330452"/>
            <a:ext cx="1292191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6" name="Text 46"/>
          <p:cNvSpPr/>
          <p:nvPr/>
        </p:nvSpPr>
        <p:spPr>
          <a:xfrm>
            <a:off x="7181006" y="133545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.005</a:t>
            </a:r>
          </a:p>
        </p:txBody>
      </p:sp>
      <p:sp>
        <p:nvSpPr>
          <p:cNvPr id="47" name="Box 47"/>
          <p:cNvSpPr/>
          <p:nvPr/>
        </p:nvSpPr>
        <p:spPr>
          <a:xfrm>
            <a:off x="274320" y="159334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8" name="Text 48"/>
          <p:cNvSpPr/>
          <p:nvPr/>
        </p:nvSpPr>
        <p:spPr>
          <a:xfrm>
            <a:off x="289320" y="159834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CODCEF</a:t>
            </a:r>
          </a:p>
        </p:txBody>
      </p:sp>
      <p:sp>
        <p:nvSpPr>
          <p:cNvPr id="49" name="Box 49"/>
          <p:cNvSpPr/>
          <p:nvPr/>
        </p:nvSpPr>
        <p:spPr>
          <a:xfrm>
            <a:off x="2179474" y="159334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0" name="Text 50"/>
          <p:cNvSpPr/>
          <p:nvPr/>
        </p:nvSpPr>
        <p:spPr>
          <a:xfrm>
            <a:off x="2194474" y="159834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Sensors 2021</a:t>
            </a:r>
          </a:p>
        </p:txBody>
      </p:sp>
      <p:sp>
        <p:nvSpPr>
          <p:cNvPr id="51" name="Box 51"/>
          <p:cNvSpPr/>
          <p:nvPr/>
        </p:nvSpPr>
        <p:spPr>
          <a:xfrm>
            <a:off x="4084628" y="159334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2" name="Text 52"/>
          <p:cNvSpPr/>
          <p:nvPr/>
        </p:nvSpPr>
        <p:spPr>
          <a:xfrm>
            <a:off x="4099628" y="159834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.763</a:t>
            </a:r>
          </a:p>
        </p:txBody>
      </p:sp>
      <p:sp>
        <p:nvSpPr>
          <p:cNvPr id="53" name="Box 53"/>
          <p:cNvSpPr/>
          <p:nvPr/>
        </p:nvSpPr>
        <p:spPr>
          <a:xfrm>
            <a:off x="5111754" y="159334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4" name="Text 54"/>
          <p:cNvSpPr/>
          <p:nvPr/>
        </p:nvSpPr>
        <p:spPr>
          <a:xfrm>
            <a:off x="5126754" y="159834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.677</a:t>
            </a:r>
          </a:p>
        </p:txBody>
      </p:sp>
      <p:sp>
        <p:nvSpPr>
          <p:cNvPr id="55" name="Box 55"/>
          <p:cNvSpPr/>
          <p:nvPr/>
        </p:nvSpPr>
        <p:spPr>
          <a:xfrm>
            <a:off x="6138880" y="159334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6" name="Text 56"/>
          <p:cNvSpPr/>
          <p:nvPr/>
        </p:nvSpPr>
        <p:spPr>
          <a:xfrm>
            <a:off x="6153880" y="159834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.444</a:t>
            </a:r>
          </a:p>
        </p:txBody>
      </p:sp>
      <p:sp>
        <p:nvSpPr>
          <p:cNvPr id="57" name="Box 57"/>
          <p:cNvSpPr/>
          <p:nvPr/>
        </p:nvSpPr>
        <p:spPr>
          <a:xfrm>
            <a:off x="7166006" y="1593342"/>
            <a:ext cx="1292191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8" name="Text 58"/>
          <p:cNvSpPr/>
          <p:nvPr/>
        </p:nvSpPr>
        <p:spPr>
          <a:xfrm>
            <a:off x="7181006" y="159834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.004</a:t>
            </a:r>
          </a:p>
        </p:txBody>
      </p:sp>
      <p:sp>
        <p:nvSpPr>
          <p:cNvPr id="59" name="Box 59"/>
          <p:cNvSpPr/>
          <p:nvPr/>
        </p:nvSpPr>
        <p:spPr>
          <a:xfrm>
            <a:off x="274320" y="185623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0" name="Text 60"/>
          <p:cNvSpPr/>
          <p:nvPr/>
        </p:nvSpPr>
        <p:spPr>
          <a:xfrm>
            <a:off x="289320" y="186123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C2FNet</a:t>
            </a:r>
          </a:p>
        </p:txBody>
      </p:sp>
      <p:sp>
        <p:nvSpPr>
          <p:cNvPr id="61" name="Box 61"/>
          <p:cNvSpPr/>
          <p:nvPr/>
        </p:nvSpPr>
        <p:spPr>
          <a:xfrm>
            <a:off x="2179474" y="185623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2" name="Text 62"/>
          <p:cNvSpPr/>
          <p:nvPr/>
        </p:nvSpPr>
        <p:spPr>
          <a:xfrm>
            <a:off x="2194474" y="186123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IJCAI 2021</a:t>
            </a:r>
          </a:p>
        </p:txBody>
      </p:sp>
      <p:sp>
        <p:nvSpPr>
          <p:cNvPr id="63" name="Box 63"/>
          <p:cNvSpPr/>
          <p:nvPr/>
        </p:nvSpPr>
        <p:spPr>
          <a:xfrm>
            <a:off x="4084628" y="185623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4" name="Text 64"/>
          <p:cNvSpPr/>
          <p:nvPr/>
        </p:nvSpPr>
        <p:spPr>
          <a:xfrm>
            <a:off x="4099628" y="186123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.726</a:t>
            </a:r>
          </a:p>
        </p:txBody>
      </p:sp>
      <p:sp>
        <p:nvSpPr>
          <p:cNvPr id="65" name="Box 65"/>
          <p:cNvSpPr/>
          <p:nvPr/>
        </p:nvSpPr>
        <p:spPr>
          <a:xfrm>
            <a:off x="5111754" y="185623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6" name="Text 66"/>
          <p:cNvSpPr/>
          <p:nvPr/>
        </p:nvSpPr>
        <p:spPr>
          <a:xfrm>
            <a:off x="5126754" y="186123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.721</a:t>
            </a:r>
          </a:p>
        </p:txBody>
      </p:sp>
      <p:sp>
        <p:nvSpPr>
          <p:cNvPr id="67" name="Box 67"/>
          <p:cNvSpPr/>
          <p:nvPr/>
        </p:nvSpPr>
        <p:spPr>
          <a:xfrm>
            <a:off x="6138880" y="185623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8" name="Text 68"/>
          <p:cNvSpPr/>
          <p:nvPr/>
        </p:nvSpPr>
        <p:spPr>
          <a:xfrm>
            <a:off x="6153880" y="186123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.403</a:t>
            </a:r>
          </a:p>
        </p:txBody>
      </p:sp>
      <p:sp>
        <p:nvSpPr>
          <p:cNvPr id="69" name="Box 69"/>
          <p:cNvSpPr/>
          <p:nvPr/>
        </p:nvSpPr>
        <p:spPr>
          <a:xfrm>
            <a:off x="7166006" y="1856232"/>
            <a:ext cx="1292191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0" name="Text 70"/>
          <p:cNvSpPr/>
          <p:nvPr/>
        </p:nvSpPr>
        <p:spPr>
          <a:xfrm>
            <a:off x="7181006" y="186123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.010</a:t>
            </a:r>
          </a:p>
        </p:txBody>
      </p:sp>
      <p:sp>
        <p:nvSpPr>
          <p:cNvPr id="71" name="Box 71"/>
          <p:cNvSpPr/>
          <p:nvPr/>
        </p:nvSpPr>
        <p:spPr>
          <a:xfrm>
            <a:off x="274320" y="211912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2" name="Text 72"/>
          <p:cNvSpPr/>
          <p:nvPr/>
        </p:nvSpPr>
        <p:spPr>
          <a:xfrm>
            <a:off x="289320" y="212412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C2FNet-V2</a:t>
            </a:r>
          </a:p>
        </p:txBody>
      </p:sp>
      <p:sp>
        <p:nvSpPr>
          <p:cNvPr id="73" name="Box 73"/>
          <p:cNvSpPr/>
          <p:nvPr/>
        </p:nvSpPr>
        <p:spPr>
          <a:xfrm>
            <a:off x="2179474" y="211912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4" name="Text 74"/>
          <p:cNvSpPr/>
          <p:nvPr/>
        </p:nvSpPr>
        <p:spPr>
          <a:xfrm>
            <a:off x="2194474" y="212412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TCSVT 2022</a:t>
            </a:r>
          </a:p>
        </p:txBody>
      </p:sp>
      <p:sp>
        <p:nvSpPr>
          <p:cNvPr id="75" name="Box 75"/>
          <p:cNvSpPr/>
          <p:nvPr/>
        </p:nvSpPr>
        <p:spPr>
          <a:xfrm>
            <a:off x="4084628" y="211912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6" name="Text 76"/>
          <p:cNvSpPr/>
          <p:nvPr/>
        </p:nvSpPr>
        <p:spPr>
          <a:xfrm>
            <a:off x="4099628" y="212412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.913</a:t>
            </a:r>
          </a:p>
        </p:txBody>
      </p:sp>
      <p:sp>
        <p:nvSpPr>
          <p:cNvPr id="77" name="Box 77"/>
          <p:cNvSpPr/>
          <p:nvPr/>
        </p:nvSpPr>
        <p:spPr>
          <a:xfrm>
            <a:off x="5111754" y="211912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8" name="Text 78"/>
          <p:cNvSpPr/>
          <p:nvPr/>
        </p:nvSpPr>
        <p:spPr>
          <a:xfrm>
            <a:off x="5126754" y="212412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.810</a:t>
            </a:r>
          </a:p>
        </p:txBody>
      </p:sp>
      <p:sp>
        <p:nvSpPr>
          <p:cNvPr id="79" name="Box 79"/>
          <p:cNvSpPr/>
          <p:nvPr/>
        </p:nvSpPr>
        <p:spPr>
          <a:xfrm>
            <a:off x="6138880" y="211912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0" name="Text 80"/>
          <p:cNvSpPr/>
          <p:nvPr/>
        </p:nvSpPr>
        <p:spPr>
          <a:xfrm>
            <a:off x="6153880" y="212412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.654</a:t>
            </a:r>
          </a:p>
        </p:txBody>
      </p:sp>
      <p:sp>
        <p:nvSpPr>
          <p:cNvPr id="81" name="Box 81"/>
          <p:cNvSpPr/>
          <p:nvPr/>
        </p:nvSpPr>
        <p:spPr>
          <a:xfrm>
            <a:off x="7166006" y="2119122"/>
            <a:ext cx="1292191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2" name="Text 82"/>
          <p:cNvSpPr/>
          <p:nvPr/>
        </p:nvSpPr>
        <p:spPr>
          <a:xfrm>
            <a:off x="7181006" y="212412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.008</a:t>
            </a:r>
          </a:p>
        </p:txBody>
      </p:sp>
      <p:sp>
        <p:nvSpPr>
          <p:cNvPr id="83" name="Box 83"/>
          <p:cNvSpPr/>
          <p:nvPr/>
        </p:nvSpPr>
        <p:spPr>
          <a:xfrm>
            <a:off x="274320" y="238201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4" name="Text 84"/>
          <p:cNvSpPr/>
          <p:nvPr/>
        </p:nvSpPr>
        <p:spPr>
          <a:xfrm>
            <a:off x="289320" y="238701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SINet-V2</a:t>
            </a:r>
          </a:p>
        </p:txBody>
      </p:sp>
      <p:sp>
        <p:nvSpPr>
          <p:cNvPr id="85" name="Box 85"/>
          <p:cNvSpPr/>
          <p:nvPr/>
        </p:nvSpPr>
        <p:spPr>
          <a:xfrm>
            <a:off x="2179474" y="238201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6" name="Text 86"/>
          <p:cNvSpPr/>
          <p:nvPr/>
        </p:nvSpPr>
        <p:spPr>
          <a:xfrm>
            <a:off x="2194474" y="238701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TPAMI 2022</a:t>
            </a:r>
          </a:p>
        </p:txBody>
      </p:sp>
      <p:sp>
        <p:nvSpPr>
          <p:cNvPr id="87" name="Box 87"/>
          <p:cNvSpPr/>
          <p:nvPr/>
        </p:nvSpPr>
        <p:spPr>
          <a:xfrm>
            <a:off x="4084628" y="238201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8" name="Text 88"/>
          <p:cNvSpPr/>
          <p:nvPr/>
        </p:nvSpPr>
        <p:spPr>
          <a:xfrm>
            <a:off x="4099628" y="238701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.849</a:t>
            </a:r>
          </a:p>
        </p:txBody>
      </p:sp>
      <p:sp>
        <p:nvSpPr>
          <p:cNvPr id="89" name="Box 89"/>
          <p:cNvSpPr/>
          <p:nvPr/>
        </p:nvSpPr>
        <p:spPr>
          <a:xfrm>
            <a:off x="5111754" y="238201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0" name="Text 90"/>
          <p:cNvSpPr/>
          <p:nvPr/>
        </p:nvSpPr>
        <p:spPr>
          <a:xfrm>
            <a:off x="5126754" y="238701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.728</a:t>
            </a:r>
          </a:p>
        </p:txBody>
      </p:sp>
      <p:sp>
        <p:nvSpPr>
          <p:cNvPr id="91" name="Box 91"/>
          <p:cNvSpPr/>
          <p:nvPr/>
        </p:nvSpPr>
        <p:spPr>
          <a:xfrm>
            <a:off x="6138880" y="238201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2" name="Text 92"/>
          <p:cNvSpPr/>
          <p:nvPr/>
        </p:nvSpPr>
        <p:spPr>
          <a:xfrm>
            <a:off x="6153880" y="238701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.492</a:t>
            </a:r>
          </a:p>
        </p:txBody>
      </p:sp>
      <p:sp>
        <p:nvSpPr>
          <p:cNvPr id="93" name="Box 93"/>
          <p:cNvSpPr/>
          <p:nvPr/>
        </p:nvSpPr>
        <p:spPr>
          <a:xfrm>
            <a:off x="7166006" y="2382012"/>
            <a:ext cx="1292191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4" name="Text 94"/>
          <p:cNvSpPr/>
          <p:nvPr/>
        </p:nvSpPr>
        <p:spPr>
          <a:xfrm>
            <a:off x="7181006" y="238701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.004</a:t>
            </a:r>
          </a:p>
        </p:txBody>
      </p:sp>
      <p:sp>
        <p:nvSpPr>
          <p:cNvPr id="95" name="Box 95"/>
          <p:cNvSpPr/>
          <p:nvPr/>
        </p:nvSpPr>
        <p:spPr>
          <a:xfrm>
            <a:off x="274320" y="264490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6" name="Text 96"/>
          <p:cNvSpPr/>
          <p:nvPr/>
        </p:nvSpPr>
        <p:spPr>
          <a:xfrm>
            <a:off x="289320" y="264990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ASBI</a:t>
            </a:r>
          </a:p>
        </p:txBody>
      </p:sp>
      <p:sp>
        <p:nvSpPr>
          <p:cNvPr id="97" name="Box 97"/>
          <p:cNvSpPr/>
          <p:nvPr/>
        </p:nvSpPr>
        <p:spPr>
          <a:xfrm>
            <a:off x="2179474" y="264490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8" name="Text 98"/>
          <p:cNvSpPr/>
          <p:nvPr/>
        </p:nvSpPr>
        <p:spPr>
          <a:xfrm>
            <a:off x="2194474" y="264990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CVIU 2023</a:t>
            </a:r>
          </a:p>
        </p:txBody>
      </p:sp>
      <p:sp>
        <p:nvSpPr>
          <p:cNvPr id="99" name="Box 99"/>
          <p:cNvSpPr/>
          <p:nvPr/>
        </p:nvSpPr>
        <p:spPr>
          <a:xfrm>
            <a:off x="4084628" y="264490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0" name="Text 100"/>
          <p:cNvSpPr/>
          <p:nvPr/>
        </p:nvSpPr>
        <p:spPr>
          <a:xfrm>
            <a:off x="4099628" y="264990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.684</a:t>
            </a:r>
          </a:p>
        </p:txBody>
      </p:sp>
      <p:sp>
        <p:nvSpPr>
          <p:cNvPr id="101" name="Box 101"/>
          <p:cNvSpPr/>
          <p:nvPr/>
        </p:nvSpPr>
        <p:spPr>
          <a:xfrm>
            <a:off x="5111754" y="264490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2" name="Text 102"/>
          <p:cNvSpPr/>
          <p:nvPr/>
        </p:nvSpPr>
        <p:spPr>
          <a:xfrm>
            <a:off x="5126754" y="264990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.675</a:t>
            </a:r>
          </a:p>
        </p:txBody>
      </p:sp>
      <p:sp>
        <p:nvSpPr>
          <p:cNvPr id="103" name="Box 103"/>
          <p:cNvSpPr/>
          <p:nvPr/>
        </p:nvSpPr>
        <p:spPr>
          <a:xfrm>
            <a:off x="6138880" y="264490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4" name="Text 104"/>
          <p:cNvSpPr/>
          <p:nvPr/>
        </p:nvSpPr>
        <p:spPr>
          <a:xfrm>
            <a:off x="6153880" y="264990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.370</a:t>
            </a:r>
          </a:p>
        </p:txBody>
      </p:sp>
      <p:sp>
        <p:nvSpPr>
          <p:cNvPr id="105" name="Box 105"/>
          <p:cNvSpPr/>
          <p:nvPr/>
        </p:nvSpPr>
        <p:spPr>
          <a:xfrm>
            <a:off x="7166006" y="2644902"/>
            <a:ext cx="1292191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6" name="Text 106"/>
          <p:cNvSpPr/>
          <p:nvPr/>
        </p:nvSpPr>
        <p:spPr>
          <a:xfrm>
            <a:off x="7181006" y="264990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.014</a:t>
            </a:r>
          </a:p>
        </p:txBody>
      </p:sp>
      <p:sp>
        <p:nvSpPr>
          <p:cNvPr id="107" name="Box 107"/>
          <p:cNvSpPr/>
          <p:nvPr/>
        </p:nvSpPr>
        <p:spPr>
          <a:xfrm>
            <a:off x="274320" y="290779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8" name="Text 108"/>
          <p:cNvSpPr/>
          <p:nvPr/>
        </p:nvSpPr>
        <p:spPr>
          <a:xfrm>
            <a:off x="289320" y="291279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FIRNet</a:t>
            </a:r>
          </a:p>
        </p:txBody>
      </p:sp>
      <p:sp>
        <p:nvSpPr>
          <p:cNvPr id="109" name="Box 109"/>
          <p:cNvSpPr/>
          <p:nvPr/>
        </p:nvSpPr>
        <p:spPr>
          <a:xfrm>
            <a:off x="2179474" y="290779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0" name="Text 110"/>
          <p:cNvSpPr/>
          <p:nvPr/>
        </p:nvSpPr>
        <p:spPr>
          <a:xfrm>
            <a:off x="2194474" y="291279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TVC 2024</a:t>
            </a:r>
          </a:p>
        </p:txBody>
      </p:sp>
      <p:sp>
        <p:nvSpPr>
          <p:cNvPr id="111" name="Box 111"/>
          <p:cNvSpPr/>
          <p:nvPr/>
        </p:nvSpPr>
        <p:spPr>
          <a:xfrm>
            <a:off x="4084628" y="290779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2" name="Text 112"/>
          <p:cNvSpPr/>
          <p:nvPr/>
        </p:nvSpPr>
        <p:spPr>
          <a:xfrm>
            <a:off x="4099628" y="291279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.882</a:t>
            </a:r>
          </a:p>
        </p:txBody>
      </p:sp>
      <p:sp>
        <p:nvSpPr>
          <p:cNvPr id="113" name="Box 113"/>
          <p:cNvSpPr/>
          <p:nvPr/>
        </p:nvSpPr>
        <p:spPr>
          <a:xfrm>
            <a:off x="5111754" y="290779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4" name="Text 114"/>
          <p:cNvSpPr/>
          <p:nvPr/>
        </p:nvSpPr>
        <p:spPr>
          <a:xfrm>
            <a:off x="5126754" y="291279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.738</a:t>
            </a:r>
          </a:p>
        </p:txBody>
      </p:sp>
      <p:sp>
        <p:nvSpPr>
          <p:cNvPr id="115" name="Box 115"/>
          <p:cNvSpPr/>
          <p:nvPr/>
        </p:nvSpPr>
        <p:spPr>
          <a:xfrm>
            <a:off x="6138880" y="290779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6" name="Text 116"/>
          <p:cNvSpPr/>
          <p:nvPr/>
        </p:nvSpPr>
        <p:spPr>
          <a:xfrm>
            <a:off x="6153880" y="291279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.537</a:t>
            </a:r>
          </a:p>
        </p:txBody>
      </p:sp>
      <p:sp>
        <p:nvSpPr>
          <p:cNvPr id="117" name="Box 117"/>
          <p:cNvSpPr/>
          <p:nvPr/>
        </p:nvSpPr>
        <p:spPr>
          <a:xfrm>
            <a:off x="7166006" y="2907792"/>
            <a:ext cx="1292191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8" name="Text 118"/>
          <p:cNvSpPr/>
          <p:nvPr/>
        </p:nvSpPr>
        <p:spPr>
          <a:xfrm>
            <a:off x="7181006" y="291279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.004</a:t>
            </a:r>
          </a:p>
        </p:txBody>
      </p:sp>
      <p:sp>
        <p:nvSpPr>
          <p:cNvPr id="119" name="Box 119"/>
          <p:cNvSpPr/>
          <p:nvPr/>
        </p:nvSpPr>
        <p:spPr>
          <a:xfrm>
            <a:off x="274320" y="317068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0" name="Text 120"/>
          <p:cNvSpPr/>
          <p:nvPr/>
        </p:nvSpPr>
        <p:spPr>
          <a:xfrm>
            <a:off x="289320" y="317568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PRNet</a:t>
            </a:r>
          </a:p>
        </p:txBody>
      </p:sp>
      <p:sp>
        <p:nvSpPr>
          <p:cNvPr id="121" name="Box 121"/>
          <p:cNvSpPr/>
          <p:nvPr/>
        </p:nvSpPr>
        <p:spPr>
          <a:xfrm>
            <a:off x="2179474" y="317068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2" name="Text 122"/>
          <p:cNvSpPr/>
          <p:nvPr/>
        </p:nvSpPr>
        <p:spPr>
          <a:xfrm>
            <a:off x="2194474" y="317568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TCSVT 2024</a:t>
            </a:r>
          </a:p>
        </p:txBody>
      </p:sp>
      <p:sp>
        <p:nvSpPr>
          <p:cNvPr id="123" name="Box 123"/>
          <p:cNvSpPr/>
          <p:nvPr/>
        </p:nvSpPr>
        <p:spPr>
          <a:xfrm>
            <a:off x="4084628" y="317068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4" name="Text 124"/>
          <p:cNvSpPr/>
          <p:nvPr/>
        </p:nvSpPr>
        <p:spPr>
          <a:xfrm>
            <a:off x="4099628" y="317568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.926</a:t>
            </a:r>
          </a:p>
        </p:txBody>
      </p:sp>
      <p:sp>
        <p:nvSpPr>
          <p:cNvPr id="125" name="Box 125"/>
          <p:cNvSpPr/>
          <p:nvPr/>
        </p:nvSpPr>
        <p:spPr>
          <a:xfrm>
            <a:off x="5111754" y="317068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6" name="Text 126"/>
          <p:cNvSpPr/>
          <p:nvPr/>
        </p:nvSpPr>
        <p:spPr>
          <a:xfrm>
            <a:off x="5126754" y="317568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.826</a:t>
            </a:r>
          </a:p>
        </p:txBody>
      </p:sp>
      <p:sp>
        <p:nvSpPr>
          <p:cNvPr id="127" name="Box 127"/>
          <p:cNvSpPr/>
          <p:nvPr/>
        </p:nvSpPr>
        <p:spPr>
          <a:xfrm>
            <a:off x="6138880" y="317068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8" name="Text 128"/>
          <p:cNvSpPr/>
          <p:nvPr/>
        </p:nvSpPr>
        <p:spPr>
          <a:xfrm>
            <a:off x="6153880" y="317568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.698</a:t>
            </a:r>
          </a:p>
        </p:txBody>
      </p:sp>
      <p:sp>
        <p:nvSpPr>
          <p:cNvPr id="129" name="Box 129"/>
          <p:cNvSpPr/>
          <p:nvPr/>
        </p:nvSpPr>
        <p:spPr>
          <a:xfrm>
            <a:off x="7166006" y="3170682"/>
            <a:ext cx="1292191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0" name="Text 130"/>
          <p:cNvSpPr/>
          <p:nvPr/>
        </p:nvSpPr>
        <p:spPr>
          <a:xfrm>
            <a:off x="7181006" y="317568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.002</a:t>
            </a:r>
          </a:p>
        </p:txBody>
      </p:sp>
      <p:sp>
        <p:nvSpPr>
          <p:cNvPr id="131" name="Box 131"/>
          <p:cNvSpPr/>
          <p:nvPr/>
        </p:nvSpPr>
        <p:spPr>
          <a:xfrm>
            <a:off x="274320" y="343357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2" name="Text 132"/>
          <p:cNvSpPr/>
          <p:nvPr/>
        </p:nvSpPr>
        <p:spPr>
          <a:xfrm>
            <a:off x="289320" y="343857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IdeNet</a:t>
            </a:r>
          </a:p>
        </p:txBody>
      </p:sp>
      <p:sp>
        <p:nvSpPr>
          <p:cNvPr id="133" name="Box 133"/>
          <p:cNvSpPr/>
          <p:nvPr/>
        </p:nvSpPr>
        <p:spPr>
          <a:xfrm>
            <a:off x="2179474" y="343357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4" name="Text 134"/>
          <p:cNvSpPr/>
          <p:nvPr/>
        </p:nvSpPr>
        <p:spPr>
          <a:xfrm>
            <a:off x="2194474" y="343857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TIP 2024</a:t>
            </a:r>
          </a:p>
        </p:txBody>
      </p:sp>
      <p:sp>
        <p:nvSpPr>
          <p:cNvPr id="135" name="Box 135"/>
          <p:cNvSpPr/>
          <p:nvPr/>
        </p:nvSpPr>
        <p:spPr>
          <a:xfrm>
            <a:off x="4084628" y="343357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6" name="Text 136"/>
          <p:cNvSpPr/>
          <p:nvPr/>
        </p:nvSpPr>
        <p:spPr>
          <a:xfrm>
            <a:off x="4099628" y="343857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.846</a:t>
            </a:r>
          </a:p>
        </p:txBody>
      </p:sp>
      <p:sp>
        <p:nvSpPr>
          <p:cNvPr id="137" name="Box 137"/>
          <p:cNvSpPr/>
          <p:nvPr/>
        </p:nvSpPr>
        <p:spPr>
          <a:xfrm>
            <a:off x="5111754" y="343357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8" name="Text 138"/>
          <p:cNvSpPr/>
          <p:nvPr/>
        </p:nvSpPr>
        <p:spPr>
          <a:xfrm>
            <a:off x="5126754" y="343857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.808</a:t>
            </a:r>
          </a:p>
        </p:txBody>
      </p:sp>
      <p:sp>
        <p:nvSpPr>
          <p:cNvPr id="139" name="Box 139"/>
          <p:cNvSpPr/>
          <p:nvPr/>
        </p:nvSpPr>
        <p:spPr>
          <a:xfrm>
            <a:off x="6138880" y="343357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0" name="Text 140"/>
          <p:cNvSpPr/>
          <p:nvPr/>
        </p:nvSpPr>
        <p:spPr>
          <a:xfrm>
            <a:off x="6153880" y="343857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.588</a:t>
            </a:r>
          </a:p>
        </p:txBody>
      </p:sp>
      <p:sp>
        <p:nvSpPr>
          <p:cNvPr id="141" name="Box 141"/>
          <p:cNvSpPr/>
          <p:nvPr/>
        </p:nvSpPr>
        <p:spPr>
          <a:xfrm>
            <a:off x="7166006" y="3433572"/>
            <a:ext cx="1292191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2" name="Text 142"/>
          <p:cNvSpPr/>
          <p:nvPr/>
        </p:nvSpPr>
        <p:spPr>
          <a:xfrm>
            <a:off x="7181006" y="343857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.004</a:t>
            </a:r>
          </a:p>
        </p:txBody>
      </p:sp>
      <p:sp>
        <p:nvSpPr>
          <p:cNvPr id="143" name="Box 143"/>
          <p:cNvSpPr/>
          <p:nvPr/>
        </p:nvSpPr>
        <p:spPr>
          <a:xfrm>
            <a:off x="274320" y="369646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4" name="Text 144"/>
          <p:cNvSpPr/>
          <p:nvPr/>
        </p:nvSpPr>
        <p:spPr>
          <a:xfrm>
            <a:off x="289320" y="370146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PCNet</a:t>
            </a:r>
          </a:p>
        </p:txBody>
      </p:sp>
      <p:sp>
        <p:nvSpPr>
          <p:cNvPr id="145" name="Box 145"/>
          <p:cNvSpPr/>
          <p:nvPr/>
        </p:nvSpPr>
        <p:spPr>
          <a:xfrm>
            <a:off x="2179474" y="3696462"/>
            <a:ext cx="1905154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6" name="Text 146"/>
          <p:cNvSpPr/>
          <p:nvPr/>
        </p:nvSpPr>
        <p:spPr>
          <a:xfrm>
            <a:off x="2194474" y="3701462"/>
            <a:ext cx="1875154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arXiv 2024</a:t>
            </a:r>
          </a:p>
        </p:txBody>
      </p:sp>
      <p:sp>
        <p:nvSpPr>
          <p:cNvPr id="147" name="Box 147"/>
          <p:cNvSpPr/>
          <p:nvPr/>
        </p:nvSpPr>
        <p:spPr>
          <a:xfrm>
            <a:off x="4084628" y="369646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8" name="Text 148"/>
          <p:cNvSpPr/>
          <p:nvPr/>
        </p:nvSpPr>
        <p:spPr>
          <a:xfrm>
            <a:off x="4099628" y="370146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.633</a:t>
            </a:r>
          </a:p>
        </p:txBody>
      </p:sp>
      <p:sp>
        <p:nvSpPr>
          <p:cNvPr id="149" name="Box 149"/>
          <p:cNvSpPr/>
          <p:nvPr/>
        </p:nvSpPr>
        <p:spPr>
          <a:xfrm>
            <a:off x="5111754" y="369646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0" name="Text 150"/>
          <p:cNvSpPr/>
          <p:nvPr/>
        </p:nvSpPr>
        <p:spPr>
          <a:xfrm>
            <a:off x="5126754" y="370146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.855</a:t>
            </a:r>
          </a:p>
        </p:txBody>
      </p:sp>
      <p:sp>
        <p:nvSpPr>
          <p:cNvPr id="151" name="Box 151"/>
          <p:cNvSpPr/>
          <p:nvPr/>
        </p:nvSpPr>
        <p:spPr>
          <a:xfrm>
            <a:off x="6138880" y="3696462"/>
            <a:ext cx="1027126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2" name="Text 152"/>
          <p:cNvSpPr/>
          <p:nvPr/>
        </p:nvSpPr>
        <p:spPr>
          <a:xfrm>
            <a:off x="6153880" y="3701462"/>
            <a:ext cx="997126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.386</a:t>
            </a:r>
          </a:p>
        </p:txBody>
      </p:sp>
      <p:sp>
        <p:nvSpPr>
          <p:cNvPr id="153" name="Box 153"/>
          <p:cNvSpPr/>
          <p:nvPr/>
        </p:nvSpPr>
        <p:spPr>
          <a:xfrm>
            <a:off x="7166006" y="3696462"/>
            <a:ext cx="1292191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4" name="Text 154"/>
          <p:cNvSpPr/>
          <p:nvPr/>
        </p:nvSpPr>
        <p:spPr>
          <a:xfrm>
            <a:off x="7181006" y="3701462"/>
            <a:ext cx="1262191" cy="25289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700" b="0">
                <a:solidFill>
                  <a:srgbClr val="17202A"/>
                </a:solidFill>
                <a:latin typeface="Aptos"/>
              </a:rPr>
              <a:t>.003</a:t>
            </a:r>
          </a:p>
        </p:txBody>
      </p:sp>
      <p:sp>
        <p:nvSpPr>
          <p:cNvPr id="156" name="Text 156"/>
          <p:cNvSpPr/>
          <p:nvPr/>
        </p:nvSpPr>
        <p:spPr>
          <a:xfrm>
            <a:off x="411480" y="4041648"/>
            <a:ext cx="781812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Official reading: PRNet leads E/F/MAE, PCNet leads S-measure; strong scores still coexist with hard failure cases under SO, extreme illumination, BS, and CB.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Paper Review: Why Multispectral Helps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06/17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Controlled RGB vs MSI comparison from the official paper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77824"/>
            <a:ext cx="4389120" cy="1901952"/>
          </a:xfrm>
          <a:prstGeom prst="rect">
            <a:avLst/>
          </a:prstGeom>
        </p:spPr>
      </p:pic>
      <p:sp>
        <p:nvSpPr>
          <p:cNvPr id="12" name="Box 12"/>
          <p:cNvSpPr/>
          <p:nvPr/>
        </p:nvSpPr>
        <p:spPr>
          <a:xfrm>
            <a:off x="4956048" y="868680"/>
            <a:ext cx="899611" cy="32004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/>
          <p:nvPr/>
        </p:nvSpPr>
        <p:spPr>
          <a:xfrm>
            <a:off x="4971048" y="873680"/>
            <a:ext cx="869611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14" name="Box 14"/>
          <p:cNvSpPr/>
          <p:nvPr/>
        </p:nvSpPr>
        <p:spPr>
          <a:xfrm>
            <a:off x="5855659" y="868680"/>
            <a:ext cx="584747" cy="32004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/>
          <p:nvPr/>
        </p:nvSpPr>
        <p:spPr>
          <a:xfrm>
            <a:off x="5870659" y="873680"/>
            <a:ext cx="554747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16" name="Box 16"/>
          <p:cNvSpPr/>
          <p:nvPr/>
        </p:nvSpPr>
        <p:spPr>
          <a:xfrm>
            <a:off x="6440406" y="868680"/>
            <a:ext cx="431813" cy="32004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/>
          <p:nvPr/>
        </p:nvSpPr>
        <p:spPr>
          <a:xfrm>
            <a:off x="6455406" y="87368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8" name="Box 18"/>
          <p:cNvSpPr/>
          <p:nvPr/>
        </p:nvSpPr>
        <p:spPr>
          <a:xfrm>
            <a:off x="6872219" y="868680"/>
            <a:ext cx="431813" cy="32004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/>
          <p:nvPr/>
        </p:nvSpPr>
        <p:spPr>
          <a:xfrm>
            <a:off x="6887219" y="87368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20" name="Box 20"/>
          <p:cNvSpPr/>
          <p:nvPr/>
        </p:nvSpPr>
        <p:spPr>
          <a:xfrm>
            <a:off x="7304032" y="868680"/>
            <a:ext cx="431813" cy="32004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/>
          <p:nvPr/>
        </p:nvSpPr>
        <p:spPr>
          <a:xfrm>
            <a:off x="7319032" y="87368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22" name="Box 22"/>
          <p:cNvSpPr/>
          <p:nvPr/>
        </p:nvSpPr>
        <p:spPr>
          <a:xfrm>
            <a:off x="7735845" y="868680"/>
            <a:ext cx="557759" cy="32004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/>
          <p:nvPr/>
        </p:nvSpPr>
        <p:spPr>
          <a:xfrm>
            <a:off x="7750845" y="873680"/>
            <a:ext cx="527759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MAE</a:t>
            </a:r>
          </a:p>
        </p:txBody>
      </p:sp>
      <p:sp>
        <p:nvSpPr>
          <p:cNvPr id="24" name="Box 24"/>
          <p:cNvSpPr/>
          <p:nvPr/>
        </p:nvSpPr>
        <p:spPr>
          <a:xfrm>
            <a:off x="4956048" y="1188720"/>
            <a:ext cx="899611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/>
          <p:nvPr/>
        </p:nvSpPr>
        <p:spPr>
          <a:xfrm>
            <a:off x="4971048" y="1193720"/>
            <a:ext cx="869611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SINet</a:t>
            </a:r>
          </a:p>
        </p:txBody>
      </p:sp>
      <p:sp>
        <p:nvSpPr>
          <p:cNvPr id="26" name="Box 26"/>
          <p:cNvSpPr/>
          <p:nvPr/>
        </p:nvSpPr>
        <p:spPr>
          <a:xfrm>
            <a:off x="5855659" y="1188720"/>
            <a:ext cx="584747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/>
          <p:nvPr/>
        </p:nvSpPr>
        <p:spPr>
          <a:xfrm>
            <a:off x="5870659" y="1193720"/>
            <a:ext cx="554747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RGB</a:t>
            </a:r>
          </a:p>
        </p:txBody>
      </p:sp>
      <p:sp>
        <p:nvSpPr>
          <p:cNvPr id="28" name="Box 28"/>
          <p:cNvSpPr/>
          <p:nvPr/>
        </p:nvSpPr>
        <p:spPr>
          <a:xfrm>
            <a:off x="6440406" y="118872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/>
          <p:nvPr/>
        </p:nvSpPr>
        <p:spPr>
          <a:xfrm>
            <a:off x="6455406" y="119372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.695</a:t>
            </a:r>
          </a:p>
        </p:txBody>
      </p:sp>
      <p:sp>
        <p:nvSpPr>
          <p:cNvPr id="30" name="Box 30"/>
          <p:cNvSpPr/>
          <p:nvPr/>
        </p:nvSpPr>
        <p:spPr>
          <a:xfrm>
            <a:off x="6872219" y="118872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1" name="Text 31"/>
          <p:cNvSpPr/>
          <p:nvPr/>
        </p:nvSpPr>
        <p:spPr>
          <a:xfrm>
            <a:off x="6887219" y="119372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.601</a:t>
            </a:r>
          </a:p>
        </p:txBody>
      </p:sp>
      <p:sp>
        <p:nvSpPr>
          <p:cNvPr id="32" name="Box 32"/>
          <p:cNvSpPr/>
          <p:nvPr/>
        </p:nvSpPr>
        <p:spPr>
          <a:xfrm>
            <a:off x="7304032" y="118872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3" name="Text 33"/>
          <p:cNvSpPr/>
          <p:nvPr/>
        </p:nvSpPr>
        <p:spPr>
          <a:xfrm>
            <a:off x="7319032" y="119372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.335</a:t>
            </a:r>
          </a:p>
        </p:txBody>
      </p:sp>
      <p:sp>
        <p:nvSpPr>
          <p:cNvPr id="34" name="Box 34"/>
          <p:cNvSpPr/>
          <p:nvPr/>
        </p:nvSpPr>
        <p:spPr>
          <a:xfrm>
            <a:off x="7735845" y="1188720"/>
            <a:ext cx="557759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5" name="Text 35"/>
          <p:cNvSpPr/>
          <p:nvPr/>
        </p:nvSpPr>
        <p:spPr>
          <a:xfrm>
            <a:off x="7750845" y="1193720"/>
            <a:ext cx="527759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.005</a:t>
            </a:r>
          </a:p>
        </p:txBody>
      </p:sp>
      <p:sp>
        <p:nvSpPr>
          <p:cNvPr id="36" name="Box 36"/>
          <p:cNvSpPr/>
          <p:nvPr/>
        </p:nvSpPr>
        <p:spPr>
          <a:xfrm>
            <a:off x="4956048" y="1508760"/>
            <a:ext cx="899611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7" name="Text 37"/>
          <p:cNvSpPr/>
          <p:nvPr/>
        </p:nvSpPr>
        <p:spPr>
          <a:xfrm>
            <a:off x="4971048" y="1513760"/>
            <a:ext cx="869611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SINet</a:t>
            </a:r>
          </a:p>
        </p:txBody>
      </p:sp>
      <p:sp>
        <p:nvSpPr>
          <p:cNvPr id="38" name="Box 38"/>
          <p:cNvSpPr/>
          <p:nvPr/>
        </p:nvSpPr>
        <p:spPr>
          <a:xfrm>
            <a:off x="5855659" y="1508760"/>
            <a:ext cx="584747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9" name="Text 39"/>
          <p:cNvSpPr/>
          <p:nvPr/>
        </p:nvSpPr>
        <p:spPr>
          <a:xfrm>
            <a:off x="5870659" y="1513760"/>
            <a:ext cx="554747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MSI</a:t>
            </a:r>
          </a:p>
        </p:txBody>
      </p:sp>
      <p:sp>
        <p:nvSpPr>
          <p:cNvPr id="40" name="Box 40"/>
          <p:cNvSpPr/>
          <p:nvPr/>
        </p:nvSpPr>
        <p:spPr>
          <a:xfrm>
            <a:off x="6440406" y="150876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1" name="Text 41"/>
          <p:cNvSpPr/>
          <p:nvPr/>
        </p:nvSpPr>
        <p:spPr>
          <a:xfrm>
            <a:off x="6455406" y="151376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.758</a:t>
            </a:r>
          </a:p>
        </p:txBody>
      </p:sp>
      <p:sp>
        <p:nvSpPr>
          <p:cNvPr id="42" name="Box 42"/>
          <p:cNvSpPr/>
          <p:nvPr/>
        </p:nvSpPr>
        <p:spPr>
          <a:xfrm>
            <a:off x="6872219" y="150876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3" name="Text 43"/>
          <p:cNvSpPr/>
          <p:nvPr/>
        </p:nvSpPr>
        <p:spPr>
          <a:xfrm>
            <a:off x="6887219" y="151376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.616</a:t>
            </a:r>
          </a:p>
        </p:txBody>
      </p:sp>
      <p:sp>
        <p:nvSpPr>
          <p:cNvPr id="44" name="Box 44"/>
          <p:cNvSpPr/>
          <p:nvPr/>
        </p:nvSpPr>
        <p:spPr>
          <a:xfrm>
            <a:off x="7304032" y="150876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5" name="Text 45"/>
          <p:cNvSpPr/>
          <p:nvPr/>
        </p:nvSpPr>
        <p:spPr>
          <a:xfrm>
            <a:off x="7319032" y="151376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.369</a:t>
            </a:r>
          </a:p>
        </p:txBody>
      </p:sp>
      <p:sp>
        <p:nvSpPr>
          <p:cNvPr id="46" name="Box 46"/>
          <p:cNvSpPr/>
          <p:nvPr/>
        </p:nvSpPr>
        <p:spPr>
          <a:xfrm>
            <a:off x="7735845" y="1508760"/>
            <a:ext cx="557759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7" name="Text 47"/>
          <p:cNvSpPr/>
          <p:nvPr/>
        </p:nvSpPr>
        <p:spPr>
          <a:xfrm>
            <a:off x="7750845" y="1513760"/>
            <a:ext cx="527759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.006</a:t>
            </a:r>
          </a:p>
        </p:txBody>
      </p:sp>
      <p:sp>
        <p:nvSpPr>
          <p:cNvPr id="48" name="Box 48"/>
          <p:cNvSpPr/>
          <p:nvPr/>
        </p:nvSpPr>
        <p:spPr>
          <a:xfrm>
            <a:off x="4956048" y="1828800"/>
            <a:ext cx="899611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9" name="Text 49"/>
          <p:cNvSpPr/>
          <p:nvPr/>
        </p:nvSpPr>
        <p:spPr>
          <a:xfrm>
            <a:off x="4971048" y="1833800"/>
            <a:ext cx="869611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C2FNet-V2</a:t>
            </a:r>
          </a:p>
        </p:txBody>
      </p:sp>
      <p:sp>
        <p:nvSpPr>
          <p:cNvPr id="50" name="Box 50"/>
          <p:cNvSpPr/>
          <p:nvPr/>
        </p:nvSpPr>
        <p:spPr>
          <a:xfrm>
            <a:off x="5855659" y="1828800"/>
            <a:ext cx="584747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1" name="Text 51"/>
          <p:cNvSpPr/>
          <p:nvPr/>
        </p:nvSpPr>
        <p:spPr>
          <a:xfrm>
            <a:off x="5870659" y="1833800"/>
            <a:ext cx="554747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RGB</a:t>
            </a:r>
          </a:p>
        </p:txBody>
      </p:sp>
      <p:sp>
        <p:nvSpPr>
          <p:cNvPr id="52" name="Box 52"/>
          <p:cNvSpPr/>
          <p:nvPr/>
        </p:nvSpPr>
        <p:spPr>
          <a:xfrm>
            <a:off x="6440406" y="182880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3" name="Text 53"/>
          <p:cNvSpPr/>
          <p:nvPr/>
        </p:nvSpPr>
        <p:spPr>
          <a:xfrm>
            <a:off x="6455406" y="183380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.885</a:t>
            </a:r>
          </a:p>
        </p:txBody>
      </p:sp>
      <p:sp>
        <p:nvSpPr>
          <p:cNvPr id="54" name="Box 54"/>
          <p:cNvSpPr/>
          <p:nvPr/>
        </p:nvSpPr>
        <p:spPr>
          <a:xfrm>
            <a:off x="6872219" y="182880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5" name="Text 55"/>
          <p:cNvSpPr/>
          <p:nvPr/>
        </p:nvSpPr>
        <p:spPr>
          <a:xfrm>
            <a:off x="6887219" y="183380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.743</a:t>
            </a:r>
          </a:p>
        </p:txBody>
      </p:sp>
      <p:sp>
        <p:nvSpPr>
          <p:cNvPr id="56" name="Box 56"/>
          <p:cNvSpPr/>
          <p:nvPr/>
        </p:nvSpPr>
        <p:spPr>
          <a:xfrm>
            <a:off x="7304032" y="182880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7" name="Text 57"/>
          <p:cNvSpPr/>
          <p:nvPr/>
        </p:nvSpPr>
        <p:spPr>
          <a:xfrm>
            <a:off x="7319032" y="183380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.553</a:t>
            </a:r>
          </a:p>
        </p:txBody>
      </p:sp>
      <p:sp>
        <p:nvSpPr>
          <p:cNvPr id="58" name="Box 58"/>
          <p:cNvSpPr/>
          <p:nvPr/>
        </p:nvSpPr>
        <p:spPr>
          <a:xfrm>
            <a:off x="7735845" y="1828800"/>
            <a:ext cx="557759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9" name="Text 59"/>
          <p:cNvSpPr/>
          <p:nvPr/>
        </p:nvSpPr>
        <p:spPr>
          <a:xfrm>
            <a:off x="7750845" y="1833800"/>
            <a:ext cx="527759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.009</a:t>
            </a:r>
          </a:p>
        </p:txBody>
      </p:sp>
      <p:sp>
        <p:nvSpPr>
          <p:cNvPr id="60" name="Box 60"/>
          <p:cNvSpPr/>
          <p:nvPr/>
        </p:nvSpPr>
        <p:spPr>
          <a:xfrm>
            <a:off x="4956048" y="2148840"/>
            <a:ext cx="899611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1" name="Text 61"/>
          <p:cNvSpPr/>
          <p:nvPr/>
        </p:nvSpPr>
        <p:spPr>
          <a:xfrm>
            <a:off x="4971048" y="2153840"/>
            <a:ext cx="869611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C2FNet-V2</a:t>
            </a:r>
          </a:p>
        </p:txBody>
      </p:sp>
      <p:sp>
        <p:nvSpPr>
          <p:cNvPr id="62" name="Box 62"/>
          <p:cNvSpPr/>
          <p:nvPr/>
        </p:nvSpPr>
        <p:spPr>
          <a:xfrm>
            <a:off x="5855659" y="2148840"/>
            <a:ext cx="584747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3" name="Text 63"/>
          <p:cNvSpPr/>
          <p:nvPr/>
        </p:nvSpPr>
        <p:spPr>
          <a:xfrm>
            <a:off x="5870659" y="2153840"/>
            <a:ext cx="554747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MSI</a:t>
            </a:r>
          </a:p>
        </p:txBody>
      </p:sp>
      <p:sp>
        <p:nvSpPr>
          <p:cNvPr id="64" name="Box 64"/>
          <p:cNvSpPr/>
          <p:nvPr/>
        </p:nvSpPr>
        <p:spPr>
          <a:xfrm>
            <a:off x="6440406" y="214884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5" name="Text 65"/>
          <p:cNvSpPr/>
          <p:nvPr/>
        </p:nvSpPr>
        <p:spPr>
          <a:xfrm>
            <a:off x="6455406" y="215384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.913</a:t>
            </a:r>
          </a:p>
        </p:txBody>
      </p:sp>
      <p:sp>
        <p:nvSpPr>
          <p:cNvPr id="66" name="Box 66"/>
          <p:cNvSpPr/>
          <p:nvPr/>
        </p:nvSpPr>
        <p:spPr>
          <a:xfrm>
            <a:off x="6872219" y="214884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7" name="Text 67"/>
          <p:cNvSpPr/>
          <p:nvPr/>
        </p:nvSpPr>
        <p:spPr>
          <a:xfrm>
            <a:off x="6887219" y="215384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.810</a:t>
            </a:r>
          </a:p>
        </p:txBody>
      </p:sp>
      <p:sp>
        <p:nvSpPr>
          <p:cNvPr id="68" name="Box 68"/>
          <p:cNvSpPr/>
          <p:nvPr/>
        </p:nvSpPr>
        <p:spPr>
          <a:xfrm>
            <a:off x="7304032" y="214884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9" name="Text 69"/>
          <p:cNvSpPr/>
          <p:nvPr/>
        </p:nvSpPr>
        <p:spPr>
          <a:xfrm>
            <a:off x="7319032" y="215384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.654</a:t>
            </a:r>
          </a:p>
        </p:txBody>
      </p:sp>
      <p:sp>
        <p:nvSpPr>
          <p:cNvPr id="70" name="Box 70"/>
          <p:cNvSpPr/>
          <p:nvPr/>
        </p:nvSpPr>
        <p:spPr>
          <a:xfrm>
            <a:off x="7735845" y="2148840"/>
            <a:ext cx="557759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1" name="Text 71"/>
          <p:cNvSpPr/>
          <p:nvPr/>
        </p:nvSpPr>
        <p:spPr>
          <a:xfrm>
            <a:off x="7750845" y="2153840"/>
            <a:ext cx="527759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.008</a:t>
            </a:r>
          </a:p>
        </p:txBody>
      </p:sp>
      <p:sp>
        <p:nvSpPr>
          <p:cNvPr id="72" name="Box 72"/>
          <p:cNvSpPr/>
          <p:nvPr/>
        </p:nvSpPr>
        <p:spPr>
          <a:xfrm>
            <a:off x="4956048" y="2468880"/>
            <a:ext cx="899611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3" name="Text 73"/>
          <p:cNvSpPr/>
          <p:nvPr/>
        </p:nvSpPr>
        <p:spPr>
          <a:xfrm>
            <a:off x="4971048" y="2473880"/>
            <a:ext cx="869611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PCNet</a:t>
            </a:r>
          </a:p>
        </p:txBody>
      </p:sp>
      <p:sp>
        <p:nvSpPr>
          <p:cNvPr id="74" name="Box 74"/>
          <p:cNvSpPr/>
          <p:nvPr/>
        </p:nvSpPr>
        <p:spPr>
          <a:xfrm>
            <a:off x="5855659" y="2468880"/>
            <a:ext cx="584747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5" name="Text 75"/>
          <p:cNvSpPr/>
          <p:nvPr/>
        </p:nvSpPr>
        <p:spPr>
          <a:xfrm>
            <a:off x="5870659" y="2473880"/>
            <a:ext cx="554747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RGB</a:t>
            </a:r>
          </a:p>
        </p:txBody>
      </p:sp>
      <p:sp>
        <p:nvSpPr>
          <p:cNvPr id="76" name="Box 76"/>
          <p:cNvSpPr/>
          <p:nvPr/>
        </p:nvSpPr>
        <p:spPr>
          <a:xfrm>
            <a:off x="6440406" y="246888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7" name="Text 77"/>
          <p:cNvSpPr/>
          <p:nvPr/>
        </p:nvSpPr>
        <p:spPr>
          <a:xfrm>
            <a:off x="6455406" y="247388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.397</a:t>
            </a:r>
          </a:p>
        </p:txBody>
      </p:sp>
      <p:sp>
        <p:nvSpPr>
          <p:cNvPr id="78" name="Box 78"/>
          <p:cNvSpPr/>
          <p:nvPr/>
        </p:nvSpPr>
        <p:spPr>
          <a:xfrm>
            <a:off x="6872219" y="246888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9" name="Text 79"/>
          <p:cNvSpPr/>
          <p:nvPr/>
        </p:nvSpPr>
        <p:spPr>
          <a:xfrm>
            <a:off x="6887219" y="247388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.788</a:t>
            </a:r>
          </a:p>
        </p:txBody>
      </p:sp>
      <p:sp>
        <p:nvSpPr>
          <p:cNvPr id="80" name="Box 80"/>
          <p:cNvSpPr/>
          <p:nvPr/>
        </p:nvSpPr>
        <p:spPr>
          <a:xfrm>
            <a:off x="7304032" y="246888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1" name="Text 81"/>
          <p:cNvSpPr/>
          <p:nvPr/>
        </p:nvSpPr>
        <p:spPr>
          <a:xfrm>
            <a:off x="7319032" y="247388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.149</a:t>
            </a:r>
          </a:p>
        </p:txBody>
      </p:sp>
      <p:sp>
        <p:nvSpPr>
          <p:cNvPr id="82" name="Box 82"/>
          <p:cNvSpPr/>
          <p:nvPr/>
        </p:nvSpPr>
        <p:spPr>
          <a:xfrm>
            <a:off x="7735845" y="2468880"/>
            <a:ext cx="557759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3" name="Text 83"/>
          <p:cNvSpPr/>
          <p:nvPr/>
        </p:nvSpPr>
        <p:spPr>
          <a:xfrm>
            <a:off x="7750845" y="2473880"/>
            <a:ext cx="527759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.005</a:t>
            </a:r>
          </a:p>
        </p:txBody>
      </p:sp>
      <p:sp>
        <p:nvSpPr>
          <p:cNvPr id="84" name="Box 84"/>
          <p:cNvSpPr/>
          <p:nvPr/>
        </p:nvSpPr>
        <p:spPr>
          <a:xfrm>
            <a:off x="4956048" y="2788920"/>
            <a:ext cx="899611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5" name="Text 85"/>
          <p:cNvSpPr/>
          <p:nvPr/>
        </p:nvSpPr>
        <p:spPr>
          <a:xfrm>
            <a:off x="4971048" y="2793920"/>
            <a:ext cx="869611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PCNet</a:t>
            </a:r>
          </a:p>
        </p:txBody>
      </p:sp>
      <p:sp>
        <p:nvSpPr>
          <p:cNvPr id="86" name="Box 86"/>
          <p:cNvSpPr/>
          <p:nvPr/>
        </p:nvSpPr>
        <p:spPr>
          <a:xfrm>
            <a:off x="5855659" y="2788920"/>
            <a:ext cx="584747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7" name="Text 87"/>
          <p:cNvSpPr/>
          <p:nvPr/>
        </p:nvSpPr>
        <p:spPr>
          <a:xfrm>
            <a:off x="5870659" y="2793920"/>
            <a:ext cx="554747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MSI</a:t>
            </a:r>
          </a:p>
        </p:txBody>
      </p:sp>
      <p:sp>
        <p:nvSpPr>
          <p:cNvPr id="88" name="Box 88"/>
          <p:cNvSpPr/>
          <p:nvPr/>
        </p:nvSpPr>
        <p:spPr>
          <a:xfrm>
            <a:off x="6440406" y="278892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9" name="Text 89"/>
          <p:cNvSpPr/>
          <p:nvPr/>
        </p:nvSpPr>
        <p:spPr>
          <a:xfrm>
            <a:off x="6455406" y="279392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.633</a:t>
            </a:r>
          </a:p>
        </p:txBody>
      </p:sp>
      <p:sp>
        <p:nvSpPr>
          <p:cNvPr id="90" name="Box 90"/>
          <p:cNvSpPr/>
          <p:nvPr/>
        </p:nvSpPr>
        <p:spPr>
          <a:xfrm>
            <a:off x="6872219" y="278892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1" name="Text 91"/>
          <p:cNvSpPr/>
          <p:nvPr/>
        </p:nvSpPr>
        <p:spPr>
          <a:xfrm>
            <a:off x="6887219" y="279392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.855</a:t>
            </a:r>
          </a:p>
        </p:txBody>
      </p:sp>
      <p:sp>
        <p:nvSpPr>
          <p:cNvPr id="92" name="Box 92"/>
          <p:cNvSpPr/>
          <p:nvPr/>
        </p:nvSpPr>
        <p:spPr>
          <a:xfrm>
            <a:off x="7304032" y="2788920"/>
            <a:ext cx="431813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3" name="Text 93"/>
          <p:cNvSpPr/>
          <p:nvPr/>
        </p:nvSpPr>
        <p:spPr>
          <a:xfrm>
            <a:off x="7319032" y="2793920"/>
            <a:ext cx="401813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.386</a:t>
            </a:r>
          </a:p>
        </p:txBody>
      </p:sp>
      <p:sp>
        <p:nvSpPr>
          <p:cNvPr id="94" name="Box 94"/>
          <p:cNvSpPr/>
          <p:nvPr/>
        </p:nvSpPr>
        <p:spPr>
          <a:xfrm>
            <a:off x="7735845" y="2788920"/>
            <a:ext cx="557759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5" name="Text 95"/>
          <p:cNvSpPr/>
          <p:nvPr/>
        </p:nvSpPr>
        <p:spPr>
          <a:xfrm>
            <a:off x="7750845" y="2793920"/>
            <a:ext cx="527759" cy="31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.003</a:t>
            </a:r>
          </a:p>
        </p:txBody>
      </p:sp>
      <p:sp>
        <p:nvSpPr>
          <p:cNvPr id="97" name="Text 97"/>
          <p:cNvSpPr/>
          <p:nvPr/>
        </p:nvSpPr>
        <p:spPr>
          <a:xfrm>
            <a:off x="530352" y="3337560"/>
            <a:ext cx="7543800" cy="6400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marL="171450" indent="-171450">
              <a:lnSpc>
                <a:spcPct val="108000"/>
              </a:lnSpc>
              <a:buChar char="•"/>
            </a:pPr>
            <a:r>
              <a:rPr lang="en-US" sz="1200" b="0">
                <a:solidFill>
                  <a:srgbClr val="17202A"/>
                </a:solidFill>
                <a:latin typeface="Aptos"/>
              </a:rPr>
              <a:t>The key evidence is consistency: MSI improves most metrics across representative architectures.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200" b="0">
                <a:solidFill>
                  <a:srgbClr val="17202A"/>
                </a:solidFill>
                <a:latin typeface="Aptos"/>
              </a:rPr>
              <a:t>Paper example: C2FNet-V2 S_alpha improves 0.743 to 0.810; F_beta improves 0.553 to 0.654.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This Repo: Research Objective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07/17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From MCOD benchmark to promptability and robustness benchmark</a:t>
            </a:r>
          </a:p>
        </p:txBody>
      </p:sp>
      <p:sp>
        <p:nvSpPr>
          <p:cNvPr id="11" name="Box 11"/>
          <p:cNvSpPr/>
          <p:nvPr/>
        </p:nvSpPr>
        <p:spPr>
          <a:xfrm>
            <a:off x="411480" y="868680"/>
            <a:ext cx="2468880" cy="2971800"/>
          </a:xfrm>
          <a:prstGeom prst="roundRect">
            <a:avLst/>
          </a:prstGeom>
          <a:solidFill>
            <a:srgbClr val="EEF3F2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/>
          <p:nvPr/>
        </p:nvSpPr>
        <p:spPr>
          <a:xfrm>
            <a:off x="566928" y="1005840"/>
            <a:ext cx="2103120" cy="29260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b="1">
                <a:solidFill>
                  <a:srgbClr val="0B6E69"/>
                </a:solidFill>
                <a:latin typeface="Aptos"/>
              </a:rPr>
              <a:t>Question 1</a:t>
            </a:r>
          </a:p>
        </p:txBody>
      </p:sp>
      <p:sp>
        <p:nvSpPr>
          <p:cNvPr id="13" name="Text 13"/>
          <p:cNvSpPr/>
          <p:nvPr/>
        </p:nvSpPr>
        <p:spPr>
          <a:xfrm>
            <a:off x="566928" y="1417320"/>
            <a:ext cx="2029968" cy="150876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600" b="1">
                <a:solidFill>
                  <a:srgbClr val="17202A"/>
                </a:solidFill>
                <a:latin typeface="Aptos"/>
              </a:rPr>
              <a:t>Can foundation or RGB-trained segmentation models use MSI-derived views to localize camouflaged objects?</a:t>
            </a:r>
          </a:p>
        </p:txBody>
      </p:sp>
      <p:sp>
        <p:nvSpPr>
          <p:cNvPr id="14" name="Box 14"/>
          <p:cNvSpPr/>
          <p:nvPr/>
        </p:nvSpPr>
        <p:spPr>
          <a:xfrm>
            <a:off x="3154680" y="868680"/>
            <a:ext cx="24688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/>
          <p:nvPr/>
        </p:nvSpPr>
        <p:spPr>
          <a:xfrm>
            <a:off x="3310128" y="1005840"/>
            <a:ext cx="2103120" cy="29260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b="1">
                <a:solidFill>
                  <a:srgbClr val="2E5AAC"/>
                </a:solidFill>
                <a:latin typeface="Aptos"/>
              </a:rPr>
              <a:t>Question 2</a:t>
            </a:r>
          </a:p>
        </p:txBody>
      </p:sp>
      <p:sp>
        <p:nvSpPr>
          <p:cNvPr id="16" name="Text 16"/>
          <p:cNvSpPr/>
          <p:nvPr/>
        </p:nvSpPr>
        <p:spPr>
          <a:xfrm>
            <a:off x="3310128" y="1417320"/>
            <a:ext cx="2029968" cy="150876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>
                <a:solidFill>
                  <a:srgbClr val="17202A"/>
                </a:solidFill>
                <a:latin typeface="Aptos"/>
              </a:rPr>
              <a:t>Which spectral views preserve detection evidence: false color, red-edge, NIR, PCA projections, or all-8 tensors?</a:t>
            </a:r>
          </a:p>
        </p:txBody>
      </p:sp>
      <p:sp>
        <p:nvSpPr>
          <p:cNvPr id="17" name="Box 17"/>
          <p:cNvSpPr/>
          <p:nvPr/>
        </p:nvSpPr>
        <p:spPr>
          <a:xfrm>
            <a:off x="5897880" y="868680"/>
            <a:ext cx="2468880" cy="2971800"/>
          </a:xfrm>
          <a:prstGeom prst="roundRect">
            <a:avLst/>
          </a:prstGeom>
          <a:solidFill>
            <a:srgbClr val="FFF4E8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/>
          <p:nvPr/>
        </p:nvSpPr>
        <p:spPr>
          <a:xfrm>
            <a:off x="6053328" y="1005840"/>
            <a:ext cx="2103120" cy="29260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b="1">
                <a:solidFill>
                  <a:srgbClr val="B75D00"/>
                </a:solidFill>
                <a:latin typeface="Aptos"/>
              </a:rPr>
              <a:t>Question 3</a:t>
            </a:r>
          </a:p>
        </p:txBody>
      </p:sp>
      <p:sp>
        <p:nvSpPr>
          <p:cNvPr id="19" name="Text 19"/>
          <p:cNvSpPr/>
          <p:nvPr/>
        </p:nvSpPr>
        <p:spPr>
          <a:xfrm>
            <a:off x="6053328" y="1417320"/>
            <a:ext cx="2029968" cy="150876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600" b="1">
                <a:solidFill>
                  <a:srgbClr val="17202A"/>
                </a:solidFill>
                <a:latin typeface="Aptos"/>
              </a:rPr>
              <a:t>How robust are results when spectral bands are degraded, dropped, perturbed, or misaligned?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Data Organization And Corrections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08/17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Raw MCOD standardized into a clean working dataset</a:t>
            </a:r>
          </a:p>
        </p:txBody>
      </p:sp>
      <p:sp>
        <p:nvSpPr>
          <p:cNvPr id="11" name="Box 11"/>
          <p:cNvSpPr/>
          <p:nvPr/>
        </p:nvSpPr>
        <p:spPr>
          <a:xfrm>
            <a:off x="347472" y="841248"/>
            <a:ext cx="3361764" cy="37338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/>
          <p:nvPr/>
        </p:nvSpPr>
        <p:spPr>
          <a:xfrm>
            <a:off x="362472" y="846248"/>
            <a:ext cx="3331764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Path</a:t>
            </a:r>
          </a:p>
        </p:txBody>
      </p:sp>
      <p:sp>
        <p:nvSpPr>
          <p:cNvPr id="13" name="Box 13"/>
          <p:cNvSpPr/>
          <p:nvPr/>
        </p:nvSpPr>
        <p:spPr>
          <a:xfrm>
            <a:off x="3709236" y="841248"/>
            <a:ext cx="806823" cy="37338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Text 14"/>
          <p:cNvSpPr/>
          <p:nvPr/>
        </p:nvSpPr>
        <p:spPr>
          <a:xfrm>
            <a:off x="3724236" y="84624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Train</a:t>
            </a:r>
          </a:p>
        </p:txBody>
      </p:sp>
      <p:sp>
        <p:nvSpPr>
          <p:cNvPr id="15" name="Box 15"/>
          <p:cNvSpPr/>
          <p:nvPr/>
        </p:nvSpPr>
        <p:spPr>
          <a:xfrm>
            <a:off x="4516059" y="841248"/>
            <a:ext cx="806823" cy="37338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" name="Text 16"/>
          <p:cNvSpPr/>
          <p:nvPr/>
        </p:nvSpPr>
        <p:spPr>
          <a:xfrm>
            <a:off x="4531059" y="84624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17" name="Box 17"/>
          <p:cNvSpPr/>
          <p:nvPr/>
        </p:nvSpPr>
        <p:spPr>
          <a:xfrm>
            <a:off x="5322882" y="841248"/>
            <a:ext cx="3025588" cy="37338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/>
          <p:nvPr/>
        </p:nvSpPr>
        <p:spPr>
          <a:xfrm>
            <a:off x="5337882" y="846248"/>
            <a:ext cx="2995588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19" name="Box 19"/>
          <p:cNvSpPr/>
          <p:nvPr/>
        </p:nvSpPr>
        <p:spPr>
          <a:xfrm>
            <a:off x="347472" y="1214628"/>
            <a:ext cx="3361764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0" name="Text 20"/>
          <p:cNvSpPr/>
          <p:nvPr/>
        </p:nvSpPr>
        <p:spPr>
          <a:xfrm>
            <a:off x="362472" y="1219628"/>
            <a:ext cx="3331764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data/MCOD_raw/*/Pcolor</a:t>
            </a:r>
          </a:p>
        </p:txBody>
      </p:sp>
      <p:sp>
        <p:nvSpPr>
          <p:cNvPr id="21" name="Box 21"/>
          <p:cNvSpPr/>
          <p:nvPr/>
        </p:nvSpPr>
        <p:spPr>
          <a:xfrm>
            <a:off x="3709236" y="1214628"/>
            <a:ext cx="806823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2" name="Text 22"/>
          <p:cNvSpPr/>
          <p:nvPr/>
        </p:nvSpPr>
        <p:spPr>
          <a:xfrm>
            <a:off x="3724236" y="121962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1027</a:t>
            </a:r>
          </a:p>
        </p:txBody>
      </p:sp>
      <p:sp>
        <p:nvSpPr>
          <p:cNvPr id="23" name="Box 23"/>
          <p:cNvSpPr/>
          <p:nvPr/>
        </p:nvSpPr>
        <p:spPr>
          <a:xfrm>
            <a:off x="4516059" y="1214628"/>
            <a:ext cx="806823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4" name="Text 24"/>
          <p:cNvSpPr/>
          <p:nvPr/>
        </p:nvSpPr>
        <p:spPr>
          <a:xfrm>
            <a:off x="4531059" y="121962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25" name="Box 25"/>
          <p:cNvSpPr/>
          <p:nvPr/>
        </p:nvSpPr>
        <p:spPr>
          <a:xfrm>
            <a:off x="5322882" y="1214628"/>
            <a:ext cx="3025588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6" name="Text 26"/>
          <p:cNvSpPr/>
          <p:nvPr/>
        </p:nvSpPr>
        <p:spPr>
          <a:xfrm>
            <a:off x="5337882" y="1219628"/>
            <a:ext cx="2995588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official false-color PNG</a:t>
            </a:r>
          </a:p>
        </p:txBody>
      </p:sp>
      <p:sp>
        <p:nvSpPr>
          <p:cNvPr id="27" name="Box 27"/>
          <p:cNvSpPr/>
          <p:nvPr/>
        </p:nvSpPr>
        <p:spPr>
          <a:xfrm>
            <a:off x="347472" y="1588008"/>
            <a:ext cx="3361764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8" name="Text 28"/>
          <p:cNvSpPr/>
          <p:nvPr/>
        </p:nvSpPr>
        <p:spPr>
          <a:xfrm>
            <a:off x="362472" y="1593008"/>
            <a:ext cx="3331764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data/MCOD_raw/*/GT</a:t>
            </a:r>
          </a:p>
        </p:txBody>
      </p:sp>
      <p:sp>
        <p:nvSpPr>
          <p:cNvPr id="29" name="Box 29"/>
          <p:cNvSpPr/>
          <p:nvPr/>
        </p:nvSpPr>
        <p:spPr>
          <a:xfrm>
            <a:off x="3709236" y="1588008"/>
            <a:ext cx="806823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0" name="Text 30"/>
          <p:cNvSpPr/>
          <p:nvPr/>
        </p:nvSpPr>
        <p:spPr>
          <a:xfrm>
            <a:off x="3724236" y="159300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1027</a:t>
            </a:r>
          </a:p>
        </p:txBody>
      </p:sp>
      <p:sp>
        <p:nvSpPr>
          <p:cNvPr id="31" name="Box 31"/>
          <p:cNvSpPr/>
          <p:nvPr/>
        </p:nvSpPr>
        <p:spPr>
          <a:xfrm>
            <a:off x="4516059" y="1588008"/>
            <a:ext cx="806823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2" name="Text 32"/>
          <p:cNvSpPr/>
          <p:nvPr/>
        </p:nvSpPr>
        <p:spPr>
          <a:xfrm>
            <a:off x="4531059" y="159300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33" name="Box 33"/>
          <p:cNvSpPr/>
          <p:nvPr/>
        </p:nvSpPr>
        <p:spPr>
          <a:xfrm>
            <a:off x="5322882" y="1588008"/>
            <a:ext cx="3025588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4" name="Text 34"/>
          <p:cNvSpPr/>
          <p:nvPr/>
        </p:nvSpPr>
        <p:spPr>
          <a:xfrm>
            <a:off x="5337882" y="1593008"/>
            <a:ext cx="2995588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pixel masks</a:t>
            </a:r>
          </a:p>
        </p:txBody>
      </p:sp>
      <p:sp>
        <p:nvSpPr>
          <p:cNvPr id="35" name="Box 35"/>
          <p:cNvSpPr/>
          <p:nvPr/>
        </p:nvSpPr>
        <p:spPr>
          <a:xfrm>
            <a:off x="347472" y="1961388"/>
            <a:ext cx="3361764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6" name="Text 36"/>
          <p:cNvSpPr/>
          <p:nvPr/>
        </p:nvSpPr>
        <p:spPr>
          <a:xfrm>
            <a:off x="362472" y="1966388"/>
            <a:ext cx="3331764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data/MCOD_raw/*/Mat</a:t>
            </a:r>
          </a:p>
        </p:txBody>
      </p:sp>
      <p:sp>
        <p:nvSpPr>
          <p:cNvPr id="37" name="Box 37"/>
          <p:cNvSpPr/>
          <p:nvPr/>
        </p:nvSpPr>
        <p:spPr>
          <a:xfrm>
            <a:off x="3709236" y="1961388"/>
            <a:ext cx="806823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8" name="Text 38"/>
          <p:cNvSpPr/>
          <p:nvPr/>
        </p:nvSpPr>
        <p:spPr>
          <a:xfrm>
            <a:off x="3724236" y="196638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1027</a:t>
            </a:r>
          </a:p>
        </p:txBody>
      </p:sp>
      <p:sp>
        <p:nvSpPr>
          <p:cNvPr id="39" name="Box 39"/>
          <p:cNvSpPr/>
          <p:nvPr/>
        </p:nvSpPr>
        <p:spPr>
          <a:xfrm>
            <a:off x="4516059" y="1961388"/>
            <a:ext cx="806823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0" name="Text 40"/>
          <p:cNvSpPr/>
          <p:nvPr/>
        </p:nvSpPr>
        <p:spPr>
          <a:xfrm>
            <a:off x="4531059" y="196638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41" name="Box 41"/>
          <p:cNvSpPr/>
          <p:nvPr/>
        </p:nvSpPr>
        <p:spPr>
          <a:xfrm>
            <a:off x="5322882" y="1961388"/>
            <a:ext cx="3025588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2" name="Text 42"/>
          <p:cNvSpPr/>
          <p:nvPr/>
        </p:nvSpPr>
        <p:spPr>
          <a:xfrm>
            <a:off x="5337882" y="1966388"/>
            <a:ext cx="2995588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8-band gray cubes</a:t>
            </a:r>
          </a:p>
        </p:txBody>
      </p:sp>
      <p:sp>
        <p:nvSpPr>
          <p:cNvPr id="43" name="Box 43"/>
          <p:cNvSpPr/>
          <p:nvPr/>
        </p:nvSpPr>
        <p:spPr>
          <a:xfrm>
            <a:off x="347472" y="2334768"/>
            <a:ext cx="3361764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4" name="Text 44"/>
          <p:cNvSpPr/>
          <p:nvPr/>
        </p:nvSpPr>
        <p:spPr>
          <a:xfrm>
            <a:off x="362472" y="2339768"/>
            <a:ext cx="3331764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data/MCOD_resized/*/Pcolor</a:t>
            </a:r>
          </a:p>
        </p:txBody>
      </p:sp>
      <p:sp>
        <p:nvSpPr>
          <p:cNvPr id="45" name="Box 45"/>
          <p:cNvSpPr/>
          <p:nvPr/>
        </p:nvSpPr>
        <p:spPr>
          <a:xfrm>
            <a:off x="3709236" y="2334768"/>
            <a:ext cx="806823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6" name="Text 46"/>
          <p:cNvSpPr/>
          <p:nvPr/>
        </p:nvSpPr>
        <p:spPr>
          <a:xfrm>
            <a:off x="3724236" y="233976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1027</a:t>
            </a:r>
          </a:p>
        </p:txBody>
      </p:sp>
      <p:sp>
        <p:nvSpPr>
          <p:cNvPr id="47" name="Box 47"/>
          <p:cNvSpPr/>
          <p:nvPr/>
        </p:nvSpPr>
        <p:spPr>
          <a:xfrm>
            <a:off x="4516059" y="2334768"/>
            <a:ext cx="806823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8" name="Text 48"/>
          <p:cNvSpPr/>
          <p:nvPr/>
        </p:nvSpPr>
        <p:spPr>
          <a:xfrm>
            <a:off x="4531059" y="233976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49" name="Box 49"/>
          <p:cNvSpPr/>
          <p:nvPr/>
        </p:nvSpPr>
        <p:spPr>
          <a:xfrm>
            <a:off x="5322882" y="2334768"/>
            <a:ext cx="3025588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0" name="Text 50"/>
          <p:cNvSpPr/>
          <p:nvPr/>
        </p:nvSpPr>
        <p:spPr>
          <a:xfrm>
            <a:off x="5337882" y="2339768"/>
            <a:ext cx="2995588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uniform 1140x860</a:t>
            </a:r>
          </a:p>
        </p:txBody>
      </p:sp>
      <p:sp>
        <p:nvSpPr>
          <p:cNvPr id="51" name="Box 51"/>
          <p:cNvSpPr/>
          <p:nvPr/>
        </p:nvSpPr>
        <p:spPr>
          <a:xfrm>
            <a:off x="347472" y="2708148"/>
            <a:ext cx="3361764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2" name="Text 52"/>
          <p:cNvSpPr/>
          <p:nvPr/>
        </p:nvSpPr>
        <p:spPr>
          <a:xfrm>
            <a:off x="362472" y="2713148"/>
            <a:ext cx="3331764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data/MCOD_resized/*/GT</a:t>
            </a:r>
          </a:p>
        </p:txBody>
      </p:sp>
      <p:sp>
        <p:nvSpPr>
          <p:cNvPr id="53" name="Box 53"/>
          <p:cNvSpPr/>
          <p:nvPr/>
        </p:nvSpPr>
        <p:spPr>
          <a:xfrm>
            <a:off x="3709236" y="2708148"/>
            <a:ext cx="806823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4" name="Text 54"/>
          <p:cNvSpPr/>
          <p:nvPr/>
        </p:nvSpPr>
        <p:spPr>
          <a:xfrm>
            <a:off x="3724236" y="271314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1027</a:t>
            </a:r>
          </a:p>
        </p:txBody>
      </p:sp>
      <p:sp>
        <p:nvSpPr>
          <p:cNvPr id="55" name="Box 55"/>
          <p:cNvSpPr/>
          <p:nvPr/>
        </p:nvSpPr>
        <p:spPr>
          <a:xfrm>
            <a:off x="4516059" y="2708148"/>
            <a:ext cx="806823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6" name="Text 56"/>
          <p:cNvSpPr/>
          <p:nvPr/>
        </p:nvSpPr>
        <p:spPr>
          <a:xfrm>
            <a:off x="4531059" y="2713148"/>
            <a:ext cx="776823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57" name="Box 57"/>
          <p:cNvSpPr/>
          <p:nvPr/>
        </p:nvSpPr>
        <p:spPr>
          <a:xfrm>
            <a:off x="5322882" y="2708148"/>
            <a:ext cx="3025588" cy="373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8" name="Text 58"/>
          <p:cNvSpPr/>
          <p:nvPr/>
        </p:nvSpPr>
        <p:spPr>
          <a:xfrm>
            <a:off x="5337882" y="2713148"/>
            <a:ext cx="2995588" cy="3633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uniform 1140x860</a:t>
            </a:r>
          </a:p>
        </p:txBody>
      </p:sp>
      <p:sp>
        <p:nvSpPr>
          <p:cNvPr id="60" name="Text 60"/>
          <p:cNvSpPr/>
          <p:nvPr/>
        </p:nvSpPr>
        <p:spPr>
          <a:xfrm>
            <a:off x="475488" y="3310128"/>
            <a:ext cx="7589520" cy="62179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Resolution repair performed in a separate folder to preserve raw data.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Final resolution summary: Pcolor 1527 at 1140x860; GT 1527 at 1140x860.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Recent code change: process_mask now copies official masks unchanged rather than binarizing label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Audit Results: Dataset Integrity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09/17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Quality gates before any model-level claim</a:t>
            </a:r>
          </a:p>
        </p:txBody>
      </p:sp>
      <p:sp>
        <p:nvSpPr>
          <p:cNvPr id="11" name="Box 11"/>
          <p:cNvSpPr/>
          <p:nvPr/>
        </p:nvSpPr>
        <p:spPr>
          <a:xfrm>
            <a:off x="365760" y="822960"/>
            <a:ext cx="2021423" cy="371475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/>
          <p:nvPr/>
        </p:nvSpPr>
        <p:spPr>
          <a:xfrm>
            <a:off x="380760" y="827960"/>
            <a:ext cx="1991423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Check</a:t>
            </a:r>
          </a:p>
        </p:txBody>
      </p:sp>
      <p:sp>
        <p:nvSpPr>
          <p:cNvPr id="13" name="Box 13"/>
          <p:cNvSpPr/>
          <p:nvPr/>
        </p:nvSpPr>
        <p:spPr>
          <a:xfrm>
            <a:off x="2387183" y="822960"/>
            <a:ext cx="1891008" cy="371475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Text 14"/>
          <p:cNvSpPr/>
          <p:nvPr/>
        </p:nvSpPr>
        <p:spPr>
          <a:xfrm>
            <a:off x="2402183" y="827960"/>
            <a:ext cx="1861008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15" name="Box 15"/>
          <p:cNvSpPr/>
          <p:nvPr/>
        </p:nvSpPr>
        <p:spPr>
          <a:xfrm>
            <a:off x="4278191" y="822960"/>
            <a:ext cx="4042846" cy="371475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" name="Text 16"/>
          <p:cNvSpPr/>
          <p:nvPr/>
        </p:nvSpPr>
        <p:spPr>
          <a:xfrm>
            <a:off x="4293191" y="827960"/>
            <a:ext cx="4012846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Interpretation</a:t>
            </a:r>
          </a:p>
        </p:txBody>
      </p:sp>
      <p:sp>
        <p:nvSpPr>
          <p:cNvPr id="17" name="Box 17"/>
          <p:cNvSpPr/>
          <p:nvPr/>
        </p:nvSpPr>
        <p:spPr>
          <a:xfrm>
            <a:off x="365760" y="1194435"/>
            <a:ext cx="2021423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/>
          <p:nvPr/>
        </p:nvSpPr>
        <p:spPr>
          <a:xfrm>
            <a:off x="380760" y="1199435"/>
            <a:ext cx="1991423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Sample count</a:t>
            </a:r>
          </a:p>
        </p:txBody>
      </p:sp>
      <p:sp>
        <p:nvSpPr>
          <p:cNvPr id="19" name="Box 19"/>
          <p:cNvSpPr/>
          <p:nvPr/>
        </p:nvSpPr>
        <p:spPr>
          <a:xfrm>
            <a:off x="2387183" y="1194435"/>
            <a:ext cx="1891008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0" name="Text 20"/>
          <p:cNvSpPr/>
          <p:nvPr/>
        </p:nvSpPr>
        <p:spPr>
          <a:xfrm>
            <a:off x="2402183" y="1199435"/>
            <a:ext cx="1861008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1527 / 1527</a:t>
            </a:r>
          </a:p>
        </p:txBody>
      </p:sp>
      <p:sp>
        <p:nvSpPr>
          <p:cNvPr id="21" name="Box 21"/>
          <p:cNvSpPr/>
          <p:nvPr/>
        </p:nvSpPr>
        <p:spPr>
          <a:xfrm>
            <a:off x="4278191" y="1194435"/>
            <a:ext cx="4042846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2" name="Text 22"/>
          <p:cNvSpPr/>
          <p:nvPr/>
        </p:nvSpPr>
        <p:spPr>
          <a:xfrm>
            <a:off x="4293191" y="1199435"/>
            <a:ext cx="4012846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matches official dataset size</a:t>
            </a:r>
          </a:p>
        </p:txBody>
      </p:sp>
      <p:sp>
        <p:nvSpPr>
          <p:cNvPr id="23" name="Box 23"/>
          <p:cNvSpPr/>
          <p:nvPr/>
        </p:nvSpPr>
        <p:spPr>
          <a:xfrm>
            <a:off x="365760" y="1565910"/>
            <a:ext cx="2021423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4" name="Text 24"/>
          <p:cNvSpPr/>
          <p:nvPr/>
        </p:nvSpPr>
        <p:spPr>
          <a:xfrm>
            <a:off x="380760" y="1570910"/>
            <a:ext cx="1991423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Official split</a:t>
            </a:r>
          </a:p>
        </p:txBody>
      </p:sp>
      <p:sp>
        <p:nvSpPr>
          <p:cNvPr id="25" name="Box 25"/>
          <p:cNvSpPr/>
          <p:nvPr/>
        </p:nvSpPr>
        <p:spPr>
          <a:xfrm>
            <a:off x="2387183" y="1565910"/>
            <a:ext cx="1891008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6" name="Text 26"/>
          <p:cNvSpPr/>
          <p:nvPr/>
        </p:nvSpPr>
        <p:spPr>
          <a:xfrm>
            <a:off x="2402183" y="1570910"/>
            <a:ext cx="1861008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1027 train / 500 test</a:t>
            </a:r>
          </a:p>
        </p:txBody>
      </p:sp>
      <p:sp>
        <p:nvSpPr>
          <p:cNvPr id="27" name="Box 27"/>
          <p:cNvSpPr/>
          <p:nvPr/>
        </p:nvSpPr>
        <p:spPr>
          <a:xfrm>
            <a:off x="4278191" y="1565910"/>
            <a:ext cx="4042846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8" name="Text 28"/>
          <p:cNvSpPr/>
          <p:nvPr/>
        </p:nvSpPr>
        <p:spPr>
          <a:xfrm>
            <a:off x="4293191" y="1570910"/>
            <a:ext cx="4012846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split is intact</a:t>
            </a:r>
          </a:p>
        </p:txBody>
      </p:sp>
      <p:sp>
        <p:nvSpPr>
          <p:cNvPr id="29" name="Box 29"/>
          <p:cNvSpPr/>
          <p:nvPr/>
        </p:nvSpPr>
        <p:spPr>
          <a:xfrm>
            <a:off x="365760" y="1937385"/>
            <a:ext cx="2021423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0" name="Text 30"/>
          <p:cNvSpPr/>
          <p:nvPr/>
        </p:nvSpPr>
        <p:spPr>
          <a:xfrm>
            <a:off x="380760" y="1942385"/>
            <a:ext cx="1991423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Image-mask-Mat count</a:t>
            </a:r>
          </a:p>
        </p:txBody>
      </p:sp>
      <p:sp>
        <p:nvSpPr>
          <p:cNvPr id="31" name="Box 31"/>
          <p:cNvSpPr/>
          <p:nvPr/>
        </p:nvSpPr>
        <p:spPr>
          <a:xfrm>
            <a:off x="2387183" y="1937385"/>
            <a:ext cx="1891008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2" name="Text 32"/>
          <p:cNvSpPr/>
          <p:nvPr/>
        </p:nvSpPr>
        <p:spPr>
          <a:xfrm>
            <a:off x="2402183" y="1942385"/>
            <a:ext cx="1861008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all equal per split</a:t>
            </a:r>
          </a:p>
        </p:txBody>
      </p:sp>
      <p:sp>
        <p:nvSpPr>
          <p:cNvPr id="33" name="Box 33"/>
          <p:cNvSpPr/>
          <p:nvPr/>
        </p:nvSpPr>
        <p:spPr>
          <a:xfrm>
            <a:off x="4278191" y="1937385"/>
            <a:ext cx="4042846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4" name="Text 34"/>
          <p:cNvSpPr/>
          <p:nvPr/>
        </p:nvSpPr>
        <p:spPr>
          <a:xfrm>
            <a:off x="4293191" y="1942385"/>
            <a:ext cx="4012846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sample triples align</a:t>
            </a:r>
          </a:p>
        </p:txBody>
      </p:sp>
      <p:sp>
        <p:nvSpPr>
          <p:cNvPr id="35" name="Box 35"/>
          <p:cNvSpPr/>
          <p:nvPr/>
        </p:nvSpPr>
        <p:spPr>
          <a:xfrm>
            <a:off x="365760" y="2308860"/>
            <a:ext cx="2021423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6" name="Text 36"/>
          <p:cNvSpPr/>
          <p:nvPr/>
        </p:nvSpPr>
        <p:spPr>
          <a:xfrm>
            <a:off x="380760" y="2313860"/>
            <a:ext cx="1991423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Corrupted files</a:t>
            </a:r>
          </a:p>
        </p:txBody>
      </p:sp>
      <p:sp>
        <p:nvSpPr>
          <p:cNvPr id="37" name="Box 37"/>
          <p:cNvSpPr/>
          <p:nvPr/>
        </p:nvSpPr>
        <p:spPr>
          <a:xfrm>
            <a:off x="2387183" y="2308860"/>
            <a:ext cx="1891008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8" name="Text 38"/>
          <p:cNvSpPr/>
          <p:nvPr/>
        </p:nvSpPr>
        <p:spPr>
          <a:xfrm>
            <a:off x="2402183" y="2313860"/>
            <a:ext cx="1861008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0 rows reported</a:t>
            </a:r>
          </a:p>
        </p:txBody>
      </p:sp>
      <p:sp>
        <p:nvSpPr>
          <p:cNvPr id="39" name="Box 39"/>
          <p:cNvSpPr/>
          <p:nvPr/>
        </p:nvSpPr>
        <p:spPr>
          <a:xfrm>
            <a:off x="4278191" y="2308860"/>
            <a:ext cx="4042846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0" name="Text 40"/>
          <p:cNvSpPr/>
          <p:nvPr/>
        </p:nvSpPr>
        <p:spPr>
          <a:xfrm>
            <a:off x="4293191" y="2313860"/>
            <a:ext cx="4012846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readability check passed</a:t>
            </a:r>
          </a:p>
        </p:txBody>
      </p:sp>
      <p:sp>
        <p:nvSpPr>
          <p:cNvPr id="41" name="Box 41"/>
          <p:cNvSpPr/>
          <p:nvPr/>
        </p:nvSpPr>
        <p:spPr>
          <a:xfrm>
            <a:off x="365760" y="2680335"/>
            <a:ext cx="2021423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2" name="Text 42"/>
          <p:cNvSpPr/>
          <p:nvPr/>
        </p:nvSpPr>
        <p:spPr>
          <a:xfrm>
            <a:off x="380760" y="2685335"/>
            <a:ext cx="1991423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Missing bands</a:t>
            </a:r>
          </a:p>
        </p:txBody>
      </p:sp>
      <p:sp>
        <p:nvSpPr>
          <p:cNvPr id="43" name="Box 43"/>
          <p:cNvSpPr/>
          <p:nvPr/>
        </p:nvSpPr>
        <p:spPr>
          <a:xfrm>
            <a:off x="2387183" y="2680335"/>
            <a:ext cx="1891008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4" name="Text 44"/>
          <p:cNvSpPr/>
          <p:nvPr/>
        </p:nvSpPr>
        <p:spPr>
          <a:xfrm>
            <a:off x="2402183" y="2685335"/>
            <a:ext cx="1861008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0 rows reported</a:t>
            </a:r>
          </a:p>
        </p:txBody>
      </p:sp>
      <p:sp>
        <p:nvSpPr>
          <p:cNvPr id="45" name="Box 45"/>
          <p:cNvSpPr/>
          <p:nvPr/>
        </p:nvSpPr>
        <p:spPr>
          <a:xfrm>
            <a:off x="4278191" y="2680335"/>
            <a:ext cx="4042846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6" name="Text 46"/>
          <p:cNvSpPr/>
          <p:nvPr/>
        </p:nvSpPr>
        <p:spPr>
          <a:xfrm>
            <a:off x="4293191" y="2685335"/>
            <a:ext cx="4012846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8-band completeness passed</a:t>
            </a:r>
          </a:p>
        </p:txBody>
      </p:sp>
      <p:sp>
        <p:nvSpPr>
          <p:cNvPr id="47" name="Box 47"/>
          <p:cNvSpPr/>
          <p:nvPr/>
        </p:nvSpPr>
        <p:spPr>
          <a:xfrm>
            <a:off x="365760" y="3051810"/>
            <a:ext cx="2021423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8" name="Text 48"/>
          <p:cNvSpPr/>
          <p:nvPr/>
        </p:nvSpPr>
        <p:spPr>
          <a:xfrm>
            <a:off x="380760" y="3056810"/>
            <a:ext cx="1991423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Missing masks</a:t>
            </a:r>
          </a:p>
        </p:txBody>
      </p:sp>
      <p:sp>
        <p:nvSpPr>
          <p:cNvPr id="49" name="Box 49"/>
          <p:cNvSpPr/>
          <p:nvPr/>
        </p:nvSpPr>
        <p:spPr>
          <a:xfrm>
            <a:off x="2387183" y="3051810"/>
            <a:ext cx="1891008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0" name="Text 50"/>
          <p:cNvSpPr/>
          <p:nvPr/>
        </p:nvSpPr>
        <p:spPr>
          <a:xfrm>
            <a:off x="2402183" y="3056810"/>
            <a:ext cx="1861008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0 rows reported</a:t>
            </a:r>
          </a:p>
        </p:txBody>
      </p:sp>
      <p:sp>
        <p:nvSpPr>
          <p:cNvPr id="51" name="Box 51"/>
          <p:cNvSpPr/>
          <p:nvPr/>
        </p:nvSpPr>
        <p:spPr>
          <a:xfrm>
            <a:off x="4278191" y="3051810"/>
            <a:ext cx="4042846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2" name="Text 52"/>
          <p:cNvSpPr/>
          <p:nvPr/>
        </p:nvSpPr>
        <p:spPr>
          <a:xfrm>
            <a:off x="4293191" y="3056810"/>
            <a:ext cx="4012846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mask linkage passed</a:t>
            </a:r>
          </a:p>
        </p:txBody>
      </p:sp>
      <p:sp>
        <p:nvSpPr>
          <p:cNvPr id="53" name="Box 53"/>
          <p:cNvSpPr/>
          <p:nvPr/>
        </p:nvSpPr>
        <p:spPr>
          <a:xfrm>
            <a:off x="365760" y="3423285"/>
            <a:ext cx="2021423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4" name="Text 54"/>
          <p:cNvSpPr/>
          <p:nvPr/>
        </p:nvSpPr>
        <p:spPr>
          <a:xfrm>
            <a:off x="380760" y="3428285"/>
            <a:ext cx="1991423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Train-test leakage</a:t>
            </a:r>
          </a:p>
        </p:txBody>
      </p:sp>
      <p:sp>
        <p:nvSpPr>
          <p:cNvPr id="55" name="Box 55"/>
          <p:cNvSpPr/>
          <p:nvPr/>
        </p:nvSpPr>
        <p:spPr>
          <a:xfrm>
            <a:off x="2387183" y="3423285"/>
            <a:ext cx="1891008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6" name="Text 56"/>
          <p:cNvSpPr/>
          <p:nvPr/>
        </p:nvSpPr>
        <p:spPr>
          <a:xfrm>
            <a:off x="2402183" y="3428285"/>
            <a:ext cx="1861008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0 rows reported</a:t>
            </a:r>
          </a:p>
        </p:txBody>
      </p:sp>
      <p:sp>
        <p:nvSpPr>
          <p:cNvPr id="57" name="Box 57"/>
          <p:cNvSpPr/>
          <p:nvPr/>
        </p:nvSpPr>
        <p:spPr>
          <a:xfrm>
            <a:off x="4278191" y="3423285"/>
            <a:ext cx="4042846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8" name="Text 58"/>
          <p:cNvSpPr/>
          <p:nvPr/>
        </p:nvSpPr>
        <p:spPr>
          <a:xfrm>
            <a:off x="4293191" y="3428285"/>
            <a:ext cx="4012846" cy="361475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no exact leakage reported</a:t>
            </a:r>
          </a:p>
        </p:txBody>
      </p:sp>
      <p:sp>
        <p:nvSpPr>
          <p:cNvPr id="60" name="Text 60"/>
          <p:cNvSpPr/>
          <p:nvPr/>
        </p:nvSpPr>
        <p:spPr>
          <a:xfrm>
            <a:off x="502920" y="3968496"/>
            <a:ext cx="7498079" cy="32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000" b="0">
                <a:solidFill>
                  <a:srgbClr val="5D6D7E"/>
                </a:solidFill>
                <a:latin typeface="Aptos"/>
              </a:rPr>
              <a:t>Audit files: MCOD_inspection_report/*.csv and data_audit/MCOD/*.csv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Processing Pipeline: Spectral Views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10/17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process_dataset.py generates model-ready views from each 8-band cube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841248"/>
            <a:ext cx="4000500" cy="1600200"/>
          </a:xfrm>
          <a:prstGeom prst="rect">
            <a:avLst/>
          </a:prstGeom>
        </p:spPr>
      </p:pic>
      <p:sp>
        <p:nvSpPr>
          <p:cNvPr id="12" name="Box 12"/>
          <p:cNvSpPr/>
          <p:nvPr/>
        </p:nvSpPr>
        <p:spPr>
          <a:xfrm>
            <a:off x="4617720" y="841248"/>
            <a:ext cx="1529213" cy="37084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/>
          <p:nvPr/>
        </p:nvSpPr>
        <p:spPr>
          <a:xfrm>
            <a:off x="4632720" y="846248"/>
            <a:ext cx="1499213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Output view</a:t>
            </a:r>
          </a:p>
        </p:txBody>
      </p:sp>
      <p:sp>
        <p:nvSpPr>
          <p:cNvPr id="14" name="Box 14"/>
          <p:cNvSpPr/>
          <p:nvPr/>
        </p:nvSpPr>
        <p:spPr>
          <a:xfrm>
            <a:off x="6146933" y="841248"/>
            <a:ext cx="2219825" cy="37084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/>
          <p:nvPr/>
        </p:nvSpPr>
        <p:spPr>
          <a:xfrm>
            <a:off x="6161933" y="846248"/>
            <a:ext cx="2189825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Definition</a:t>
            </a:r>
          </a:p>
        </p:txBody>
      </p:sp>
      <p:sp>
        <p:nvSpPr>
          <p:cNvPr id="16" name="Box 16"/>
          <p:cNvSpPr/>
          <p:nvPr/>
        </p:nvSpPr>
        <p:spPr>
          <a:xfrm>
            <a:off x="4617720" y="1212088"/>
            <a:ext cx="1529213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/>
          <p:nvPr/>
        </p:nvSpPr>
        <p:spPr>
          <a:xfrm>
            <a:off x="4632720" y="1217088"/>
            <a:ext cx="1499213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official_false_colour</a:t>
            </a:r>
          </a:p>
        </p:txBody>
      </p:sp>
      <p:sp>
        <p:nvSpPr>
          <p:cNvPr id="18" name="Box 18"/>
          <p:cNvSpPr/>
          <p:nvPr/>
        </p:nvSpPr>
        <p:spPr>
          <a:xfrm>
            <a:off x="6146933" y="1212088"/>
            <a:ext cx="2219825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/>
          <p:nvPr/>
        </p:nvSpPr>
        <p:spPr>
          <a:xfrm>
            <a:off x="6161933" y="1217088"/>
            <a:ext cx="2189825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R=S5, G=S3, B=S2</a:t>
            </a:r>
          </a:p>
        </p:txBody>
      </p:sp>
      <p:sp>
        <p:nvSpPr>
          <p:cNvPr id="20" name="Box 20"/>
          <p:cNvSpPr/>
          <p:nvPr/>
        </p:nvSpPr>
        <p:spPr>
          <a:xfrm>
            <a:off x="4617720" y="1582928"/>
            <a:ext cx="1529213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/>
          <p:nvPr/>
        </p:nvSpPr>
        <p:spPr>
          <a:xfrm>
            <a:off x="4632720" y="1587928"/>
            <a:ext cx="1499213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S6_rededge_gray3</a:t>
            </a:r>
          </a:p>
        </p:txBody>
      </p:sp>
      <p:sp>
        <p:nvSpPr>
          <p:cNvPr id="22" name="Box 22"/>
          <p:cNvSpPr/>
          <p:nvPr/>
        </p:nvSpPr>
        <p:spPr>
          <a:xfrm>
            <a:off x="6146933" y="1582928"/>
            <a:ext cx="2219825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/>
          <p:nvPr/>
        </p:nvSpPr>
        <p:spPr>
          <a:xfrm>
            <a:off x="6161933" y="1587928"/>
            <a:ext cx="2189825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S6 normalized as 3-channel image</a:t>
            </a:r>
          </a:p>
        </p:txBody>
      </p:sp>
      <p:sp>
        <p:nvSpPr>
          <p:cNvPr id="24" name="Box 24"/>
          <p:cNvSpPr/>
          <p:nvPr/>
        </p:nvSpPr>
        <p:spPr>
          <a:xfrm>
            <a:off x="4617720" y="1953768"/>
            <a:ext cx="1529213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/>
          <p:nvPr/>
        </p:nvSpPr>
        <p:spPr>
          <a:xfrm>
            <a:off x="4632720" y="1958768"/>
            <a:ext cx="1499213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S7_nir1_gray3</a:t>
            </a:r>
          </a:p>
        </p:txBody>
      </p:sp>
      <p:sp>
        <p:nvSpPr>
          <p:cNvPr id="26" name="Box 26"/>
          <p:cNvSpPr/>
          <p:nvPr/>
        </p:nvSpPr>
        <p:spPr>
          <a:xfrm>
            <a:off x="6146933" y="1953768"/>
            <a:ext cx="2219825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/>
          <p:nvPr/>
        </p:nvSpPr>
        <p:spPr>
          <a:xfrm>
            <a:off x="6161933" y="1958768"/>
            <a:ext cx="2189825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S7 normalized as 3-channel image</a:t>
            </a:r>
          </a:p>
        </p:txBody>
      </p:sp>
      <p:sp>
        <p:nvSpPr>
          <p:cNvPr id="28" name="Box 28"/>
          <p:cNvSpPr/>
          <p:nvPr/>
        </p:nvSpPr>
        <p:spPr>
          <a:xfrm>
            <a:off x="4617720" y="2324608"/>
            <a:ext cx="1529213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/>
          <p:nvPr/>
        </p:nvSpPr>
        <p:spPr>
          <a:xfrm>
            <a:off x="4632720" y="2329608"/>
            <a:ext cx="1499213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S8_nir2_gray3</a:t>
            </a:r>
          </a:p>
        </p:txBody>
      </p:sp>
      <p:sp>
        <p:nvSpPr>
          <p:cNvPr id="30" name="Box 30"/>
          <p:cNvSpPr/>
          <p:nvPr/>
        </p:nvSpPr>
        <p:spPr>
          <a:xfrm>
            <a:off x="6146933" y="2324608"/>
            <a:ext cx="2219825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1" name="Text 31"/>
          <p:cNvSpPr/>
          <p:nvPr/>
        </p:nvSpPr>
        <p:spPr>
          <a:xfrm>
            <a:off x="6161933" y="2329608"/>
            <a:ext cx="2189825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S8 normalized as 3-channel image</a:t>
            </a:r>
          </a:p>
        </p:txBody>
      </p:sp>
      <p:sp>
        <p:nvSpPr>
          <p:cNvPr id="32" name="Box 32"/>
          <p:cNvSpPr/>
          <p:nvPr/>
        </p:nvSpPr>
        <p:spPr>
          <a:xfrm>
            <a:off x="4617720" y="2695448"/>
            <a:ext cx="1529213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3" name="Text 33"/>
          <p:cNvSpPr/>
          <p:nvPr/>
        </p:nvSpPr>
        <p:spPr>
          <a:xfrm>
            <a:off x="4632720" y="2700448"/>
            <a:ext cx="1499213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visible_group_projection</a:t>
            </a:r>
          </a:p>
        </p:txBody>
      </p:sp>
      <p:sp>
        <p:nvSpPr>
          <p:cNvPr id="34" name="Box 34"/>
          <p:cNvSpPr/>
          <p:nvPr/>
        </p:nvSpPr>
        <p:spPr>
          <a:xfrm>
            <a:off x="6146933" y="2695448"/>
            <a:ext cx="2219825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5" name="Text 35"/>
          <p:cNvSpPr/>
          <p:nvPr/>
        </p:nvSpPr>
        <p:spPr>
          <a:xfrm>
            <a:off x="6161933" y="2700448"/>
            <a:ext cx="2189825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PCA over S1-S5</a:t>
            </a:r>
          </a:p>
        </p:txBody>
      </p:sp>
      <p:sp>
        <p:nvSpPr>
          <p:cNvPr id="36" name="Box 36"/>
          <p:cNvSpPr/>
          <p:nvPr/>
        </p:nvSpPr>
        <p:spPr>
          <a:xfrm>
            <a:off x="4617720" y="3066288"/>
            <a:ext cx="1529213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7" name="Text 37"/>
          <p:cNvSpPr/>
          <p:nvPr/>
        </p:nvSpPr>
        <p:spPr>
          <a:xfrm>
            <a:off x="4632720" y="3071288"/>
            <a:ext cx="1499213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nir_group_projection</a:t>
            </a:r>
          </a:p>
        </p:txBody>
      </p:sp>
      <p:sp>
        <p:nvSpPr>
          <p:cNvPr id="38" name="Box 38"/>
          <p:cNvSpPr/>
          <p:nvPr/>
        </p:nvSpPr>
        <p:spPr>
          <a:xfrm>
            <a:off x="6146933" y="3066288"/>
            <a:ext cx="2219825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9" name="Text 39"/>
          <p:cNvSpPr/>
          <p:nvPr/>
        </p:nvSpPr>
        <p:spPr>
          <a:xfrm>
            <a:off x="6161933" y="3071288"/>
            <a:ext cx="2189825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PCA over S6-S8</a:t>
            </a:r>
          </a:p>
        </p:txBody>
      </p:sp>
      <p:sp>
        <p:nvSpPr>
          <p:cNvPr id="40" name="Box 40"/>
          <p:cNvSpPr/>
          <p:nvPr/>
        </p:nvSpPr>
        <p:spPr>
          <a:xfrm>
            <a:off x="4617720" y="3437128"/>
            <a:ext cx="1529213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1" name="Text 41"/>
          <p:cNvSpPr/>
          <p:nvPr/>
        </p:nvSpPr>
        <p:spPr>
          <a:xfrm>
            <a:off x="4632720" y="3442128"/>
            <a:ext cx="1499213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all8_input</a:t>
            </a:r>
          </a:p>
        </p:txBody>
      </p:sp>
      <p:sp>
        <p:nvSpPr>
          <p:cNvPr id="42" name="Box 42"/>
          <p:cNvSpPr/>
          <p:nvPr/>
        </p:nvSpPr>
        <p:spPr>
          <a:xfrm>
            <a:off x="6146933" y="3437128"/>
            <a:ext cx="2219825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3" name="Text 43"/>
          <p:cNvSpPr/>
          <p:nvPr/>
        </p:nvSpPr>
        <p:spPr>
          <a:xfrm>
            <a:off x="6161933" y="3442128"/>
            <a:ext cx="2189825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H x W x 8 normalized tensor</a:t>
            </a:r>
          </a:p>
        </p:txBody>
      </p:sp>
      <p:sp>
        <p:nvSpPr>
          <p:cNvPr id="44" name="Box 44"/>
          <p:cNvSpPr/>
          <p:nvPr/>
        </p:nvSpPr>
        <p:spPr>
          <a:xfrm>
            <a:off x="4617720" y="3807968"/>
            <a:ext cx="1529213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5" name="Text 45"/>
          <p:cNvSpPr/>
          <p:nvPr/>
        </p:nvSpPr>
        <p:spPr>
          <a:xfrm>
            <a:off x="4632720" y="3812968"/>
            <a:ext cx="1499213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ground_truth_mask</a:t>
            </a:r>
          </a:p>
        </p:txBody>
      </p:sp>
      <p:sp>
        <p:nvSpPr>
          <p:cNvPr id="46" name="Box 46"/>
          <p:cNvSpPr/>
          <p:nvPr/>
        </p:nvSpPr>
        <p:spPr>
          <a:xfrm>
            <a:off x="6146933" y="3807968"/>
            <a:ext cx="2219825" cy="37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7" name="Text 47"/>
          <p:cNvSpPr/>
          <p:nvPr/>
        </p:nvSpPr>
        <p:spPr>
          <a:xfrm>
            <a:off x="6161933" y="3812968"/>
            <a:ext cx="2189825" cy="3608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official mask copied unchanged</a:t>
            </a:r>
          </a:p>
        </p:txBody>
      </p:sp>
      <p:sp>
        <p:nvSpPr>
          <p:cNvPr id="49" name="Text 49"/>
          <p:cNvSpPr/>
          <p:nvPr/>
        </p:nvSpPr>
        <p:spPr>
          <a:xfrm>
            <a:off x="502920" y="2834640"/>
            <a:ext cx="3703320" cy="9144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300" b="0">
                <a:solidFill>
                  <a:srgbClr val="17202A"/>
                </a:solidFill>
                <a:latin typeface="Aptos"/>
              </a:rPr>
              <a:t>Processed counts per view: 1027 train + 500 test for all eight output groups, including all8_input tensors and masks.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Repo Results: Available Baseline Outputs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11/17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MSIResults contains complete predictions for the 500-image test split</a:t>
            </a:r>
          </a:p>
        </p:txBody>
      </p:sp>
      <p:sp>
        <p:nvSpPr>
          <p:cNvPr id="11" name="Box 11"/>
          <p:cNvSpPr/>
          <p:nvPr/>
        </p:nvSpPr>
        <p:spPr>
          <a:xfrm>
            <a:off x="411480" y="841248"/>
            <a:ext cx="1828800" cy="27813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/>
          <p:nvPr/>
        </p:nvSpPr>
        <p:spPr>
          <a:xfrm>
            <a:off x="426480" y="84624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Method folder</a:t>
            </a:r>
          </a:p>
        </p:txBody>
      </p:sp>
      <p:sp>
        <p:nvSpPr>
          <p:cNvPr id="13" name="Box 13"/>
          <p:cNvSpPr/>
          <p:nvPr/>
        </p:nvSpPr>
        <p:spPr>
          <a:xfrm>
            <a:off x="2240280" y="841248"/>
            <a:ext cx="914400" cy="27813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Text 14"/>
          <p:cNvSpPr/>
          <p:nvPr/>
        </p:nvSpPr>
        <p:spPr>
          <a:xfrm>
            <a:off x="2255280" y="84624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1">
                <a:solidFill>
                  <a:srgbClr val="FFFFFF"/>
                </a:solidFill>
                <a:latin typeface="Aptos"/>
              </a:rPr>
              <a:t>Pred masks</a:t>
            </a:r>
          </a:p>
        </p:txBody>
      </p:sp>
      <p:sp>
        <p:nvSpPr>
          <p:cNvPr id="15" name="Box 15"/>
          <p:cNvSpPr/>
          <p:nvPr/>
        </p:nvSpPr>
        <p:spPr>
          <a:xfrm>
            <a:off x="411480" y="1119378"/>
            <a:ext cx="18288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" name="Text 16"/>
          <p:cNvSpPr/>
          <p:nvPr/>
        </p:nvSpPr>
        <p:spPr>
          <a:xfrm>
            <a:off x="426480" y="112437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PRNet</a:t>
            </a:r>
          </a:p>
        </p:txBody>
      </p:sp>
      <p:sp>
        <p:nvSpPr>
          <p:cNvPr id="17" name="Box 17"/>
          <p:cNvSpPr/>
          <p:nvPr/>
        </p:nvSpPr>
        <p:spPr>
          <a:xfrm>
            <a:off x="2240280" y="1119378"/>
            <a:ext cx="9144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/>
          <p:nvPr/>
        </p:nvSpPr>
        <p:spPr>
          <a:xfrm>
            <a:off x="2255280" y="112437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19" name="Box 19"/>
          <p:cNvSpPr/>
          <p:nvPr/>
        </p:nvSpPr>
        <p:spPr>
          <a:xfrm>
            <a:off x="411480" y="1397508"/>
            <a:ext cx="18288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0" name="Text 20"/>
          <p:cNvSpPr/>
          <p:nvPr/>
        </p:nvSpPr>
        <p:spPr>
          <a:xfrm>
            <a:off x="426480" y="140250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PCNet</a:t>
            </a:r>
          </a:p>
        </p:txBody>
      </p:sp>
      <p:sp>
        <p:nvSpPr>
          <p:cNvPr id="21" name="Box 21"/>
          <p:cNvSpPr/>
          <p:nvPr/>
        </p:nvSpPr>
        <p:spPr>
          <a:xfrm>
            <a:off x="2240280" y="1397508"/>
            <a:ext cx="9144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2" name="Text 22"/>
          <p:cNvSpPr/>
          <p:nvPr/>
        </p:nvSpPr>
        <p:spPr>
          <a:xfrm>
            <a:off x="2255280" y="140250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23" name="Box 23"/>
          <p:cNvSpPr/>
          <p:nvPr/>
        </p:nvSpPr>
        <p:spPr>
          <a:xfrm>
            <a:off x="411480" y="1675638"/>
            <a:ext cx="18288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4" name="Text 24"/>
          <p:cNvSpPr/>
          <p:nvPr/>
        </p:nvSpPr>
        <p:spPr>
          <a:xfrm>
            <a:off x="426480" y="168063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IdeNet</a:t>
            </a:r>
          </a:p>
        </p:txBody>
      </p:sp>
      <p:sp>
        <p:nvSpPr>
          <p:cNvPr id="25" name="Box 25"/>
          <p:cNvSpPr/>
          <p:nvPr/>
        </p:nvSpPr>
        <p:spPr>
          <a:xfrm>
            <a:off x="2240280" y="1675638"/>
            <a:ext cx="9144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6" name="Text 26"/>
          <p:cNvSpPr/>
          <p:nvPr/>
        </p:nvSpPr>
        <p:spPr>
          <a:xfrm>
            <a:off x="2255280" y="168063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27" name="Box 27"/>
          <p:cNvSpPr/>
          <p:nvPr/>
        </p:nvSpPr>
        <p:spPr>
          <a:xfrm>
            <a:off x="411480" y="1953768"/>
            <a:ext cx="18288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8" name="Text 28"/>
          <p:cNvSpPr/>
          <p:nvPr/>
        </p:nvSpPr>
        <p:spPr>
          <a:xfrm>
            <a:off x="426480" y="195876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FIRNet</a:t>
            </a:r>
          </a:p>
        </p:txBody>
      </p:sp>
      <p:sp>
        <p:nvSpPr>
          <p:cNvPr id="29" name="Box 29"/>
          <p:cNvSpPr/>
          <p:nvPr/>
        </p:nvSpPr>
        <p:spPr>
          <a:xfrm>
            <a:off x="2240280" y="1953768"/>
            <a:ext cx="9144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0" name="Text 30"/>
          <p:cNvSpPr/>
          <p:nvPr/>
        </p:nvSpPr>
        <p:spPr>
          <a:xfrm>
            <a:off x="2255280" y="195876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31" name="Box 31"/>
          <p:cNvSpPr/>
          <p:nvPr/>
        </p:nvSpPr>
        <p:spPr>
          <a:xfrm>
            <a:off x="411480" y="2231898"/>
            <a:ext cx="18288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2" name="Text 32"/>
          <p:cNvSpPr/>
          <p:nvPr/>
        </p:nvSpPr>
        <p:spPr>
          <a:xfrm>
            <a:off x="426480" y="223689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SINetV2</a:t>
            </a:r>
          </a:p>
        </p:txBody>
      </p:sp>
      <p:sp>
        <p:nvSpPr>
          <p:cNvPr id="33" name="Box 33"/>
          <p:cNvSpPr/>
          <p:nvPr/>
        </p:nvSpPr>
        <p:spPr>
          <a:xfrm>
            <a:off x="2240280" y="2231898"/>
            <a:ext cx="9144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4" name="Text 34"/>
          <p:cNvSpPr/>
          <p:nvPr/>
        </p:nvSpPr>
        <p:spPr>
          <a:xfrm>
            <a:off x="2255280" y="223689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35" name="Box 35"/>
          <p:cNvSpPr/>
          <p:nvPr/>
        </p:nvSpPr>
        <p:spPr>
          <a:xfrm>
            <a:off x="411480" y="2510028"/>
            <a:ext cx="18288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6" name="Text 36"/>
          <p:cNvSpPr/>
          <p:nvPr/>
        </p:nvSpPr>
        <p:spPr>
          <a:xfrm>
            <a:off x="426480" y="251502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CODCEF</a:t>
            </a:r>
          </a:p>
        </p:txBody>
      </p:sp>
      <p:sp>
        <p:nvSpPr>
          <p:cNvPr id="37" name="Box 37"/>
          <p:cNvSpPr/>
          <p:nvPr/>
        </p:nvSpPr>
        <p:spPr>
          <a:xfrm>
            <a:off x="2240280" y="2510028"/>
            <a:ext cx="9144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8" name="Text 38"/>
          <p:cNvSpPr/>
          <p:nvPr/>
        </p:nvSpPr>
        <p:spPr>
          <a:xfrm>
            <a:off x="2255280" y="251502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39" name="Box 39"/>
          <p:cNvSpPr/>
          <p:nvPr/>
        </p:nvSpPr>
        <p:spPr>
          <a:xfrm>
            <a:off x="411480" y="2788158"/>
            <a:ext cx="18288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0" name="Text 40"/>
          <p:cNvSpPr/>
          <p:nvPr/>
        </p:nvSpPr>
        <p:spPr>
          <a:xfrm>
            <a:off x="426480" y="279315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LSRNet</a:t>
            </a:r>
          </a:p>
        </p:txBody>
      </p:sp>
      <p:sp>
        <p:nvSpPr>
          <p:cNvPr id="41" name="Box 41"/>
          <p:cNvSpPr/>
          <p:nvPr/>
        </p:nvSpPr>
        <p:spPr>
          <a:xfrm>
            <a:off x="2240280" y="2788158"/>
            <a:ext cx="9144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2" name="Text 42"/>
          <p:cNvSpPr/>
          <p:nvPr/>
        </p:nvSpPr>
        <p:spPr>
          <a:xfrm>
            <a:off x="2255280" y="279315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43" name="Box 43"/>
          <p:cNvSpPr/>
          <p:nvPr/>
        </p:nvSpPr>
        <p:spPr>
          <a:xfrm>
            <a:off x="411480" y="3066288"/>
            <a:ext cx="18288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4" name="Text 44"/>
          <p:cNvSpPr/>
          <p:nvPr/>
        </p:nvSpPr>
        <p:spPr>
          <a:xfrm>
            <a:off x="426480" y="307128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SINet</a:t>
            </a:r>
          </a:p>
        </p:txBody>
      </p:sp>
      <p:sp>
        <p:nvSpPr>
          <p:cNvPr id="45" name="Box 45"/>
          <p:cNvSpPr/>
          <p:nvPr/>
        </p:nvSpPr>
        <p:spPr>
          <a:xfrm>
            <a:off x="2240280" y="3066288"/>
            <a:ext cx="9144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6" name="Text 46"/>
          <p:cNvSpPr/>
          <p:nvPr/>
        </p:nvSpPr>
        <p:spPr>
          <a:xfrm>
            <a:off x="2255280" y="307128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47" name="Box 47"/>
          <p:cNvSpPr/>
          <p:nvPr/>
        </p:nvSpPr>
        <p:spPr>
          <a:xfrm>
            <a:off x="411480" y="3344418"/>
            <a:ext cx="18288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8" name="Text 48"/>
          <p:cNvSpPr/>
          <p:nvPr/>
        </p:nvSpPr>
        <p:spPr>
          <a:xfrm>
            <a:off x="426480" y="334941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C2FNetV2</a:t>
            </a:r>
          </a:p>
        </p:txBody>
      </p:sp>
      <p:sp>
        <p:nvSpPr>
          <p:cNvPr id="49" name="Box 49"/>
          <p:cNvSpPr/>
          <p:nvPr/>
        </p:nvSpPr>
        <p:spPr>
          <a:xfrm>
            <a:off x="2240280" y="3344418"/>
            <a:ext cx="9144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0" name="Text 50"/>
          <p:cNvSpPr/>
          <p:nvPr/>
        </p:nvSpPr>
        <p:spPr>
          <a:xfrm>
            <a:off x="2255280" y="334941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51" name="Box 51"/>
          <p:cNvSpPr/>
          <p:nvPr/>
        </p:nvSpPr>
        <p:spPr>
          <a:xfrm>
            <a:off x="411480" y="3622548"/>
            <a:ext cx="18288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2" name="Text 52"/>
          <p:cNvSpPr/>
          <p:nvPr/>
        </p:nvSpPr>
        <p:spPr>
          <a:xfrm>
            <a:off x="426480" y="362754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C2FNet</a:t>
            </a:r>
          </a:p>
        </p:txBody>
      </p:sp>
      <p:sp>
        <p:nvSpPr>
          <p:cNvPr id="53" name="Box 53"/>
          <p:cNvSpPr/>
          <p:nvPr/>
        </p:nvSpPr>
        <p:spPr>
          <a:xfrm>
            <a:off x="2240280" y="3622548"/>
            <a:ext cx="9144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4" name="Text 54"/>
          <p:cNvSpPr/>
          <p:nvPr/>
        </p:nvSpPr>
        <p:spPr>
          <a:xfrm>
            <a:off x="2255280" y="362754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sp>
        <p:nvSpPr>
          <p:cNvPr id="55" name="Box 55"/>
          <p:cNvSpPr/>
          <p:nvPr/>
        </p:nvSpPr>
        <p:spPr>
          <a:xfrm>
            <a:off x="411480" y="3900678"/>
            <a:ext cx="18288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6" name="Text 56"/>
          <p:cNvSpPr/>
          <p:nvPr/>
        </p:nvSpPr>
        <p:spPr>
          <a:xfrm>
            <a:off x="426480" y="3905678"/>
            <a:ext cx="17988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ASBI</a:t>
            </a:r>
          </a:p>
        </p:txBody>
      </p:sp>
      <p:sp>
        <p:nvSpPr>
          <p:cNvPr id="57" name="Box 57"/>
          <p:cNvSpPr/>
          <p:nvPr/>
        </p:nvSpPr>
        <p:spPr>
          <a:xfrm>
            <a:off x="2240280" y="3900678"/>
            <a:ext cx="914400" cy="2781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8" name="Text 58"/>
          <p:cNvSpPr/>
          <p:nvPr/>
        </p:nvSpPr>
        <p:spPr>
          <a:xfrm>
            <a:off x="2255280" y="3905678"/>
            <a:ext cx="884400" cy="26813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17202A"/>
                </a:solidFill>
                <a:latin typeface="Aptos"/>
              </a:rPr>
              <a:t>500</a:t>
            </a: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925830"/>
            <a:ext cx="4617720" cy="2308860"/>
          </a:xfrm>
          <a:prstGeom prst="rect">
            <a:avLst/>
          </a:prstGeom>
        </p:spPr>
      </p:pic>
      <p:sp>
        <p:nvSpPr>
          <p:cNvPr id="61" name="Text 61"/>
          <p:cNvSpPr/>
          <p:nvPr/>
        </p:nvSpPr>
        <p:spPr>
          <a:xfrm>
            <a:off x="3611880" y="3456432"/>
            <a:ext cx="4343400" cy="56692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Local check agrees with the paper's broad picture: PRNet has the lowest MAE, PCNet has high overlap/structure behavior, and older baselines degrade strongly.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Qualitative Snapshot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12/17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One test image across input, mask, and representative prediction maps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50986"/>
            <a:ext cx="7955278" cy="1338507"/>
          </a:xfrm>
          <a:prstGeom prst="rect">
            <a:avLst/>
          </a:prstGeom>
        </p:spPr>
      </p:pic>
      <p:sp>
        <p:nvSpPr>
          <p:cNvPr id="12" name="Text 12"/>
          <p:cNvSpPr/>
          <p:nvPr/>
        </p:nvSpPr>
        <p:spPr>
          <a:xfrm>
            <a:off x="502920" y="3273552"/>
            <a:ext cx="7498079" cy="7132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marL="171450" indent="-171450">
              <a:lnSpc>
                <a:spcPct val="108000"/>
              </a:lnSpc>
              <a:buChar char="•"/>
            </a:pPr>
            <a:r>
              <a:rPr lang="en-US" sz="1200" b="0">
                <a:solidFill>
                  <a:srgbClr val="17202A"/>
                </a:solidFill>
                <a:latin typeface="Aptos"/>
              </a:rPr>
              <a:t>Dense masks often differ in boundary sharpness and small-object recall even when aggregate MAE is low.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200" b="0">
                <a:solidFill>
                  <a:srgbClr val="17202A"/>
                </a:solidFill>
                <a:latin typeface="Aptos"/>
              </a:rPr>
              <a:t>This motivates attribute-wise and failure-mode analysis rather than relying only on mean test-set scores.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Dataset Statistics From Audit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13/17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Object scale and spectral distribution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65" y="841248"/>
            <a:ext cx="3440430" cy="196596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865" y="841248"/>
            <a:ext cx="3440430" cy="196596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135" y="2962656"/>
            <a:ext cx="2320290" cy="1325880"/>
          </a:xfrm>
          <a:prstGeom prst="rect">
            <a:avLst/>
          </a:prstGeom>
        </p:spPr>
      </p:pic>
      <p:sp>
        <p:nvSpPr>
          <p:cNvPr id="14" name="Text 14"/>
          <p:cNvSpPr/>
          <p:nvPr/>
        </p:nvSpPr>
        <p:spPr>
          <a:xfrm>
            <a:off x="4526280" y="2999232"/>
            <a:ext cx="3611880" cy="96012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Train/test area distributions are nearly matched: mean area ratio 0.00538 in both splits.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Band means and variances show that visible, red-edge, and NIR channels have distinct intensity statistics.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Evaluation Protocol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14/17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Metrics retained for research-grade reporting</a:t>
            </a:r>
          </a:p>
        </p:txBody>
      </p:sp>
      <p:sp>
        <p:nvSpPr>
          <p:cNvPr id="11" name="Box 11"/>
          <p:cNvSpPr/>
          <p:nvPr/>
        </p:nvSpPr>
        <p:spPr>
          <a:xfrm>
            <a:off x="411480" y="841248"/>
            <a:ext cx="1270000" cy="40005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/>
          <p:nvPr/>
        </p:nvSpPr>
        <p:spPr>
          <a:xfrm>
            <a:off x="426480" y="846248"/>
            <a:ext cx="12400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3" name="Box 13"/>
          <p:cNvSpPr/>
          <p:nvPr/>
        </p:nvSpPr>
        <p:spPr>
          <a:xfrm>
            <a:off x="1681480" y="841248"/>
            <a:ext cx="812800" cy="40005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Text 14"/>
          <p:cNvSpPr/>
          <p:nvPr/>
        </p:nvSpPr>
        <p:spPr>
          <a:xfrm>
            <a:off x="1696480" y="846248"/>
            <a:ext cx="7828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Direction</a:t>
            </a:r>
          </a:p>
        </p:txBody>
      </p:sp>
      <p:sp>
        <p:nvSpPr>
          <p:cNvPr id="15" name="Box 15"/>
          <p:cNvSpPr/>
          <p:nvPr/>
        </p:nvSpPr>
        <p:spPr>
          <a:xfrm>
            <a:off x="2494280" y="841248"/>
            <a:ext cx="2489200" cy="400050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" name="Text 16"/>
          <p:cNvSpPr/>
          <p:nvPr/>
        </p:nvSpPr>
        <p:spPr>
          <a:xfrm>
            <a:off x="2509280" y="846248"/>
            <a:ext cx="24592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Box 17"/>
          <p:cNvSpPr/>
          <p:nvPr/>
        </p:nvSpPr>
        <p:spPr>
          <a:xfrm>
            <a:off x="411480" y="1241298"/>
            <a:ext cx="1270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/>
          <p:nvPr/>
        </p:nvSpPr>
        <p:spPr>
          <a:xfrm>
            <a:off x="426480" y="1246298"/>
            <a:ext cx="12400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S-measure</a:t>
            </a:r>
          </a:p>
        </p:txBody>
      </p:sp>
      <p:sp>
        <p:nvSpPr>
          <p:cNvPr id="19" name="Box 19"/>
          <p:cNvSpPr/>
          <p:nvPr/>
        </p:nvSpPr>
        <p:spPr>
          <a:xfrm>
            <a:off x="1681480" y="1241298"/>
            <a:ext cx="812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0" name="Text 20"/>
          <p:cNvSpPr/>
          <p:nvPr/>
        </p:nvSpPr>
        <p:spPr>
          <a:xfrm>
            <a:off x="1696480" y="1246298"/>
            <a:ext cx="7828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higher</a:t>
            </a:r>
          </a:p>
        </p:txBody>
      </p:sp>
      <p:sp>
        <p:nvSpPr>
          <p:cNvPr id="21" name="Box 21"/>
          <p:cNvSpPr/>
          <p:nvPr/>
        </p:nvSpPr>
        <p:spPr>
          <a:xfrm>
            <a:off x="2494280" y="1241298"/>
            <a:ext cx="2489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2" name="Text 22"/>
          <p:cNvSpPr/>
          <p:nvPr/>
        </p:nvSpPr>
        <p:spPr>
          <a:xfrm>
            <a:off x="2509280" y="1246298"/>
            <a:ext cx="24592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structural similarity of object map</a:t>
            </a:r>
          </a:p>
        </p:txBody>
      </p:sp>
      <p:sp>
        <p:nvSpPr>
          <p:cNvPr id="23" name="Box 23"/>
          <p:cNvSpPr/>
          <p:nvPr/>
        </p:nvSpPr>
        <p:spPr>
          <a:xfrm>
            <a:off x="411480" y="1641348"/>
            <a:ext cx="1270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4" name="Text 24"/>
          <p:cNvSpPr/>
          <p:nvPr/>
        </p:nvSpPr>
        <p:spPr>
          <a:xfrm>
            <a:off x="426480" y="1646348"/>
            <a:ext cx="12400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E-measure</a:t>
            </a:r>
          </a:p>
        </p:txBody>
      </p:sp>
      <p:sp>
        <p:nvSpPr>
          <p:cNvPr id="25" name="Box 25"/>
          <p:cNvSpPr/>
          <p:nvPr/>
        </p:nvSpPr>
        <p:spPr>
          <a:xfrm>
            <a:off x="1681480" y="1641348"/>
            <a:ext cx="812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6" name="Text 26"/>
          <p:cNvSpPr/>
          <p:nvPr/>
        </p:nvSpPr>
        <p:spPr>
          <a:xfrm>
            <a:off x="1696480" y="1646348"/>
            <a:ext cx="7828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higher</a:t>
            </a:r>
          </a:p>
        </p:txBody>
      </p:sp>
      <p:sp>
        <p:nvSpPr>
          <p:cNvPr id="27" name="Box 27"/>
          <p:cNvSpPr/>
          <p:nvPr/>
        </p:nvSpPr>
        <p:spPr>
          <a:xfrm>
            <a:off x="2494280" y="1641348"/>
            <a:ext cx="2489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8" name="Text 28"/>
          <p:cNvSpPr/>
          <p:nvPr/>
        </p:nvSpPr>
        <p:spPr>
          <a:xfrm>
            <a:off x="2509280" y="1646348"/>
            <a:ext cx="24592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alignment between prediction and GT</a:t>
            </a:r>
          </a:p>
        </p:txBody>
      </p:sp>
      <p:sp>
        <p:nvSpPr>
          <p:cNvPr id="29" name="Box 29"/>
          <p:cNvSpPr/>
          <p:nvPr/>
        </p:nvSpPr>
        <p:spPr>
          <a:xfrm>
            <a:off x="411480" y="2041398"/>
            <a:ext cx="1270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0" name="Text 30"/>
          <p:cNvSpPr/>
          <p:nvPr/>
        </p:nvSpPr>
        <p:spPr>
          <a:xfrm>
            <a:off x="426480" y="2046398"/>
            <a:ext cx="12400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F-measure</a:t>
            </a:r>
          </a:p>
        </p:txBody>
      </p:sp>
      <p:sp>
        <p:nvSpPr>
          <p:cNvPr id="31" name="Box 31"/>
          <p:cNvSpPr/>
          <p:nvPr/>
        </p:nvSpPr>
        <p:spPr>
          <a:xfrm>
            <a:off x="1681480" y="2041398"/>
            <a:ext cx="812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2" name="Text 32"/>
          <p:cNvSpPr/>
          <p:nvPr/>
        </p:nvSpPr>
        <p:spPr>
          <a:xfrm>
            <a:off x="1696480" y="2046398"/>
            <a:ext cx="7828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higher</a:t>
            </a:r>
          </a:p>
        </p:txBody>
      </p:sp>
      <p:sp>
        <p:nvSpPr>
          <p:cNvPr id="33" name="Box 33"/>
          <p:cNvSpPr/>
          <p:nvPr/>
        </p:nvSpPr>
        <p:spPr>
          <a:xfrm>
            <a:off x="2494280" y="2041398"/>
            <a:ext cx="2489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4" name="Text 34"/>
          <p:cNvSpPr/>
          <p:nvPr/>
        </p:nvSpPr>
        <p:spPr>
          <a:xfrm>
            <a:off x="2509280" y="2046398"/>
            <a:ext cx="24592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precision-recall balance</a:t>
            </a:r>
          </a:p>
        </p:txBody>
      </p:sp>
      <p:sp>
        <p:nvSpPr>
          <p:cNvPr id="35" name="Box 35"/>
          <p:cNvSpPr/>
          <p:nvPr/>
        </p:nvSpPr>
        <p:spPr>
          <a:xfrm>
            <a:off x="411480" y="2441448"/>
            <a:ext cx="1270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6" name="Text 36"/>
          <p:cNvSpPr/>
          <p:nvPr/>
        </p:nvSpPr>
        <p:spPr>
          <a:xfrm>
            <a:off x="426480" y="2446448"/>
            <a:ext cx="12400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MAE</a:t>
            </a:r>
          </a:p>
        </p:txBody>
      </p:sp>
      <p:sp>
        <p:nvSpPr>
          <p:cNvPr id="37" name="Box 37"/>
          <p:cNvSpPr/>
          <p:nvPr/>
        </p:nvSpPr>
        <p:spPr>
          <a:xfrm>
            <a:off x="1681480" y="2441448"/>
            <a:ext cx="812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8" name="Text 38"/>
          <p:cNvSpPr/>
          <p:nvPr/>
        </p:nvSpPr>
        <p:spPr>
          <a:xfrm>
            <a:off x="1696480" y="2446448"/>
            <a:ext cx="7828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lower</a:t>
            </a:r>
          </a:p>
        </p:txBody>
      </p:sp>
      <p:sp>
        <p:nvSpPr>
          <p:cNvPr id="39" name="Box 39"/>
          <p:cNvSpPr/>
          <p:nvPr/>
        </p:nvSpPr>
        <p:spPr>
          <a:xfrm>
            <a:off x="2494280" y="2441448"/>
            <a:ext cx="2489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0" name="Text 40"/>
          <p:cNvSpPr/>
          <p:nvPr/>
        </p:nvSpPr>
        <p:spPr>
          <a:xfrm>
            <a:off x="2509280" y="2446448"/>
            <a:ext cx="24592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pixel-level absolute error</a:t>
            </a:r>
          </a:p>
        </p:txBody>
      </p:sp>
      <p:sp>
        <p:nvSpPr>
          <p:cNvPr id="41" name="Box 41"/>
          <p:cNvSpPr/>
          <p:nvPr/>
        </p:nvSpPr>
        <p:spPr>
          <a:xfrm>
            <a:off x="411480" y="2841498"/>
            <a:ext cx="1270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2" name="Text 42"/>
          <p:cNvSpPr/>
          <p:nvPr/>
        </p:nvSpPr>
        <p:spPr>
          <a:xfrm>
            <a:off x="426480" y="2846498"/>
            <a:ext cx="12400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Weighted F</a:t>
            </a:r>
          </a:p>
        </p:txBody>
      </p:sp>
      <p:sp>
        <p:nvSpPr>
          <p:cNvPr id="43" name="Box 43"/>
          <p:cNvSpPr/>
          <p:nvPr/>
        </p:nvSpPr>
        <p:spPr>
          <a:xfrm>
            <a:off x="1681480" y="2841498"/>
            <a:ext cx="812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4" name="Text 44"/>
          <p:cNvSpPr/>
          <p:nvPr/>
        </p:nvSpPr>
        <p:spPr>
          <a:xfrm>
            <a:off x="1696480" y="2846498"/>
            <a:ext cx="7828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higher</a:t>
            </a:r>
          </a:p>
        </p:txBody>
      </p:sp>
      <p:sp>
        <p:nvSpPr>
          <p:cNvPr id="45" name="Box 45"/>
          <p:cNvSpPr/>
          <p:nvPr/>
        </p:nvSpPr>
        <p:spPr>
          <a:xfrm>
            <a:off x="2494280" y="2841498"/>
            <a:ext cx="2489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6" name="Text 46"/>
          <p:cNvSpPr/>
          <p:nvPr/>
        </p:nvSpPr>
        <p:spPr>
          <a:xfrm>
            <a:off x="2509280" y="2846498"/>
            <a:ext cx="24592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spatially weighted F-score</a:t>
            </a:r>
          </a:p>
        </p:txBody>
      </p:sp>
      <p:sp>
        <p:nvSpPr>
          <p:cNvPr id="47" name="Box 47"/>
          <p:cNvSpPr/>
          <p:nvPr/>
        </p:nvSpPr>
        <p:spPr>
          <a:xfrm>
            <a:off x="411480" y="3241548"/>
            <a:ext cx="1270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8" name="Text 48"/>
          <p:cNvSpPr/>
          <p:nvPr/>
        </p:nvSpPr>
        <p:spPr>
          <a:xfrm>
            <a:off x="426480" y="3246548"/>
            <a:ext cx="12400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Dice / mIoU</a:t>
            </a:r>
          </a:p>
        </p:txBody>
      </p:sp>
      <p:sp>
        <p:nvSpPr>
          <p:cNvPr id="49" name="Box 49"/>
          <p:cNvSpPr/>
          <p:nvPr/>
        </p:nvSpPr>
        <p:spPr>
          <a:xfrm>
            <a:off x="1681480" y="3241548"/>
            <a:ext cx="812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0" name="Text 50"/>
          <p:cNvSpPr/>
          <p:nvPr/>
        </p:nvSpPr>
        <p:spPr>
          <a:xfrm>
            <a:off x="1696480" y="3246548"/>
            <a:ext cx="7828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higher</a:t>
            </a:r>
          </a:p>
        </p:txBody>
      </p:sp>
      <p:sp>
        <p:nvSpPr>
          <p:cNvPr id="51" name="Box 51"/>
          <p:cNvSpPr/>
          <p:nvPr/>
        </p:nvSpPr>
        <p:spPr>
          <a:xfrm>
            <a:off x="2494280" y="3241548"/>
            <a:ext cx="2489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2" name="Text 52"/>
          <p:cNvSpPr/>
          <p:nvPr/>
        </p:nvSpPr>
        <p:spPr>
          <a:xfrm>
            <a:off x="2509280" y="3246548"/>
            <a:ext cx="24592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thresholded overlap</a:t>
            </a:r>
          </a:p>
        </p:txBody>
      </p:sp>
      <p:sp>
        <p:nvSpPr>
          <p:cNvPr id="53" name="Box 53"/>
          <p:cNvSpPr/>
          <p:nvPr/>
        </p:nvSpPr>
        <p:spPr>
          <a:xfrm>
            <a:off x="411480" y="3641598"/>
            <a:ext cx="1270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4" name="Text 54"/>
          <p:cNvSpPr/>
          <p:nvPr/>
        </p:nvSpPr>
        <p:spPr>
          <a:xfrm>
            <a:off x="426480" y="3646598"/>
            <a:ext cx="12400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Boundary F</a:t>
            </a:r>
          </a:p>
        </p:txBody>
      </p:sp>
      <p:sp>
        <p:nvSpPr>
          <p:cNvPr id="55" name="Box 55"/>
          <p:cNvSpPr/>
          <p:nvPr/>
        </p:nvSpPr>
        <p:spPr>
          <a:xfrm>
            <a:off x="1681480" y="3641598"/>
            <a:ext cx="812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6" name="Text 56"/>
          <p:cNvSpPr/>
          <p:nvPr/>
        </p:nvSpPr>
        <p:spPr>
          <a:xfrm>
            <a:off x="1696480" y="3646598"/>
            <a:ext cx="7828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higher</a:t>
            </a:r>
          </a:p>
        </p:txBody>
      </p:sp>
      <p:sp>
        <p:nvSpPr>
          <p:cNvPr id="57" name="Box 57"/>
          <p:cNvSpPr/>
          <p:nvPr/>
        </p:nvSpPr>
        <p:spPr>
          <a:xfrm>
            <a:off x="2494280" y="3641598"/>
            <a:ext cx="2489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8" name="Text 58"/>
          <p:cNvSpPr/>
          <p:nvPr/>
        </p:nvSpPr>
        <p:spPr>
          <a:xfrm>
            <a:off x="2509280" y="3646598"/>
            <a:ext cx="2459200" cy="39005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contour quality</a:t>
            </a:r>
          </a:p>
        </p:txBody>
      </p:sp>
      <p:sp>
        <p:nvSpPr>
          <p:cNvPr id="60" name="Box 60"/>
          <p:cNvSpPr/>
          <p:nvPr/>
        </p:nvSpPr>
        <p:spPr>
          <a:xfrm>
            <a:off x="5303520" y="914400"/>
            <a:ext cx="2880360" cy="2697480"/>
          </a:xfrm>
          <a:prstGeom prst="roundRect">
            <a:avLst/>
          </a:prstGeom>
          <a:solidFill>
            <a:srgbClr val="EEF3F2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1" name="Text 61"/>
          <p:cNvSpPr/>
          <p:nvPr/>
        </p:nvSpPr>
        <p:spPr>
          <a:xfrm>
            <a:off x="5468112" y="1051560"/>
            <a:ext cx="2514600" cy="41148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>
                <a:solidFill>
                  <a:srgbClr val="0B6E69"/>
                </a:solidFill>
                <a:latin typeface="Aptos"/>
              </a:rPr>
              <a:t>Reporting rule</a:t>
            </a:r>
          </a:p>
        </p:txBody>
      </p:sp>
      <p:sp>
        <p:nvSpPr>
          <p:cNvPr id="62" name="Text 62"/>
          <p:cNvSpPr/>
          <p:nvPr/>
        </p:nvSpPr>
        <p:spPr>
          <a:xfrm>
            <a:off x="5468112" y="1572768"/>
            <a:ext cx="2468880" cy="150876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Report both aggregate and attribute-wise scores.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State whether masks are official, binarized, resized, or interpolated.</a:t>
            </a:r>
          </a:p>
          <a:p>
            <a:pPr marL="171450" indent="-171450">
              <a:lnSpc>
                <a:spcPct val="108000"/>
              </a:lnSpc>
              <a:buChar char="•"/>
            </a:pPr>
            <a:r>
              <a:rPr lang="en-US" sz="1100" b="0">
                <a:solidFill>
                  <a:srgbClr val="17202A"/>
                </a:solidFill>
                <a:latin typeface="Aptos"/>
              </a:rPr>
              <a:t>Separate official paper metrics from local verification metrics.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Failure Modes To Analyze Next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15/17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Where MCOD remains difficult</a:t>
            </a:r>
          </a:p>
        </p:txBody>
      </p:sp>
      <p:sp>
        <p:nvSpPr>
          <p:cNvPr id="11" name="Box 11"/>
          <p:cNvSpPr/>
          <p:nvPr/>
        </p:nvSpPr>
        <p:spPr>
          <a:xfrm>
            <a:off x="384048" y="868680"/>
            <a:ext cx="2423160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/>
          <p:nvPr/>
        </p:nvSpPr>
        <p:spPr>
          <a:xfrm>
            <a:off x="530352" y="1024128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>
                <a:solidFill>
                  <a:srgbClr val="B75D00"/>
                </a:solidFill>
                <a:latin typeface="Aptos"/>
              </a:rPr>
              <a:t>Small objects</a:t>
            </a:r>
          </a:p>
        </p:txBody>
      </p:sp>
      <p:sp>
        <p:nvSpPr>
          <p:cNvPr id="13" name="Text 13"/>
          <p:cNvSpPr/>
          <p:nvPr/>
        </p:nvSpPr>
        <p:spPr>
          <a:xfrm>
            <a:off x="530352" y="1508760"/>
            <a:ext cx="1975104" cy="164592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b="0">
                <a:solidFill>
                  <a:srgbClr val="17202A"/>
                </a:solidFill>
                <a:latin typeface="Aptos"/>
              </a:rPr>
              <a:t>Low absolute pixel area can yield deceptively good MAE while missing the object. Need Dice, IoU, boundary, and attribute-specific recall.</a:t>
            </a:r>
          </a:p>
        </p:txBody>
      </p:sp>
      <p:sp>
        <p:nvSpPr>
          <p:cNvPr id="14" name="Box 14"/>
          <p:cNvSpPr/>
          <p:nvPr/>
        </p:nvSpPr>
        <p:spPr>
          <a:xfrm>
            <a:off x="3172968" y="868680"/>
            <a:ext cx="2423160" cy="3154680"/>
          </a:xfrm>
          <a:prstGeom prst="roundRect">
            <a:avLst/>
          </a:prstGeom>
          <a:solidFill>
            <a:srgbClr val="EEF3F2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/>
          <p:nvPr/>
        </p:nvSpPr>
        <p:spPr>
          <a:xfrm>
            <a:off x="3319272" y="1024128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>
                <a:solidFill>
                  <a:srgbClr val="0B6E69"/>
                </a:solidFill>
                <a:latin typeface="Aptos"/>
              </a:rPr>
              <a:t>Lighting extremes</a:t>
            </a:r>
          </a:p>
        </p:txBody>
      </p:sp>
      <p:sp>
        <p:nvSpPr>
          <p:cNvPr id="16" name="Text 16"/>
          <p:cNvSpPr/>
          <p:nvPr/>
        </p:nvSpPr>
        <p:spPr>
          <a:xfrm>
            <a:off x="3319272" y="1508760"/>
            <a:ext cx="1975104" cy="164592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b="0">
                <a:solidFill>
                  <a:srgbClr val="17202A"/>
                </a:solidFill>
                <a:latin typeface="Aptos"/>
              </a:rPr>
              <a:t>UI, OE, and II can collapse visible contrast. MSI should be tested under band drop, noise, and exposure perturbation.</a:t>
            </a:r>
          </a:p>
        </p:txBody>
      </p:sp>
      <p:sp>
        <p:nvSpPr>
          <p:cNvPr id="17" name="Box 17"/>
          <p:cNvSpPr/>
          <p:nvPr/>
        </p:nvSpPr>
        <p:spPr>
          <a:xfrm>
            <a:off x="5961888" y="868680"/>
            <a:ext cx="2423160" cy="3154680"/>
          </a:xfrm>
          <a:prstGeom prst="roundRect">
            <a:avLst/>
          </a:prstGeom>
          <a:solidFill>
            <a:srgbClr val="FFF4E8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/>
          <p:nvPr/>
        </p:nvSpPr>
        <p:spPr>
          <a:xfrm>
            <a:off x="6108192" y="1024128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>
                <a:solidFill>
                  <a:srgbClr val="2E5AAC"/>
                </a:solidFill>
                <a:latin typeface="Aptos"/>
              </a:rPr>
              <a:t>Spectral alignment</a:t>
            </a:r>
          </a:p>
        </p:txBody>
      </p:sp>
      <p:sp>
        <p:nvSpPr>
          <p:cNvPr id="19" name="Text 19"/>
          <p:cNvSpPr/>
          <p:nvPr/>
        </p:nvSpPr>
        <p:spPr>
          <a:xfrm>
            <a:off x="6108192" y="1508760"/>
            <a:ext cx="1975104" cy="164592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b="0">
                <a:solidFill>
                  <a:srgbClr val="17202A"/>
                </a:solidFill>
                <a:latin typeface="Aptos"/>
              </a:rPr>
              <a:t>Real sensors can misregister bands. Robustness should include spatial shifts between visible, red-edge, and NIR groups.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Planned Experiment Matrix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16/17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From current repository state to publishable benchmark extension</a:t>
            </a:r>
          </a:p>
        </p:txBody>
      </p:sp>
      <p:sp>
        <p:nvSpPr>
          <p:cNvPr id="11" name="Box 11"/>
          <p:cNvSpPr/>
          <p:nvPr/>
        </p:nvSpPr>
        <p:spPr>
          <a:xfrm>
            <a:off x="384048" y="841248"/>
            <a:ext cx="809640" cy="463731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/>
          <p:nvPr/>
        </p:nvSpPr>
        <p:spPr>
          <a:xfrm>
            <a:off x="399048" y="846248"/>
            <a:ext cx="77964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13" name="Box 13"/>
          <p:cNvSpPr/>
          <p:nvPr/>
        </p:nvSpPr>
        <p:spPr>
          <a:xfrm>
            <a:off x="1193688" y="841248"/>
            <a:ext cx="3051720" cy="463731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Text 14"/>
          <p:cNvSpPr/>
          <p:nvPr/>
        </p:nvSpPr>
        <p:spPr>
          <a:xfrm>
            <a:off x="1208688" y="846248"/>
            <a:ext cx="302172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Experiment</a:t>
            </a:r>
          </a:p>
        </p:txBody>
      </p:sp>
      <p:sp>
        <p:nvSpPr>
          <p:cNvPr id="15" name="Box 15"/>
          <p:cNvSpPr/>
          <p:nvPr/>
        </p:nvSpPr>
        <p:spPr>
          <a:xfrm>
            <a:off x="4245408" y="841248"/>
            <a:ext cx="4048200" cy="463731"/>
          </a:xfrm>
          <a:prstGeom prst="rect">
            <a:avLst/>
          </a:prstGeom>
          <a:solidFill>
            <a:srgbClr val="0B6E69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" name="Text 16"/>
          <p:cNvSpPr/>
          <p:nvPr/>
        </p:nvSpPr>
        <p:spPr>
          <a:xfrm>
            <a:off x="4260408" y="846248"/>
            <a:ext cx="401820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Main output</a:t>
            </a:r>
          </a:p>
        </p:txBody>
      </p:sp>
      <p:sp>
        <p:nvSpPr>
          <p:cNvPr id="17" name="Box 17"/>
          <p:cNvSpPr/>
          <p:nvPr/>
        </p:nvSpPr>
        <p:spPr>
          <a:xfrm>
            <a:off x="384048" y="1304979"/>
            <a:ext cx="80964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/>
          <p:nvPr/>
        </p:nvSpPr>
        <p:spPr>
          <a:xfrm>
            <a:off x="399048" y="1309979"/>
            <a:ext cx="77964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1</a:t>
            </a:r>
          </a:p>
        </p:txBody>
      </p:sp>
      <p:sp>
        <p:nvSpPr>
          <p:cNvPr id="19" name="Box 19"/>
          <p:cNvSpPr/>
          <p:nvPr/>
        </p:nvSpPr>
        <p:spPr>
          <a:xfrm>
            <a:off x="1193688" y="1304979"/>
            <a:ext cx="305172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0" name="Text 20"/>
          <p:cNvSpPr/>
          <p:nvPr/>
        </p:nvSpPr>
        <p:spPr>
          <a:xfrm>
            <a:off x="1208688" y="1309979"/>
            <a:ext cx="302172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Manifest and audit finalization</a:t>
            </a:r>
          </a:p>
        </p:txBody>
      </p:sp>
      <p:sp>
        <p:nvSpPr>
          <p:cNvPr id="21" name="Box 21"/>
          <p:cNvSpPr/>
          <p:nvPr/>
        </p:nvSpPr>
        <p:spPr>
          <a:xfrm>
            <a:off x="4245408" y="1304979"/>
            <a:ext cx="404820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2" name="Text 22"/>
          <p:cNvSpPr/>
          <p:nvPr/>
        </p:nvSpPr>
        <p:spPr>
          <a:xfrm>
            <a:off x="4260408" y="1309979"/>
            <a:ext cx="401820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frozen CSV manifest + QC report</a:t>
            </a:r>
          </a:p>
        </p:txBody>
      </p:sp>
      <p:sp>
        <p:nvSpPr>
          <p:cNvPr id="23" name="Box 23"/>
          <p:cNvSpPr/>
          <p:nvPr/>
        </p:nvSpPr>
        <p:spPr>
          <a:xfrm>
            <a:off x="384048" y="1768710"/>
            <a:ext cx="80964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4" name="Text 24"/>
          <p:cNvSpPr/>
          <p:nvPr/>
        </p:nvSpPr>
        <p:spPr>
          <a:xfrm>
            <a:off x="399048" y="1773710"/>
            <a:ext cx="77964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2</a:t>
            </a:r>
          </a:p>
        </p:txBody>
      </p:sp>
      <p:sp>
        <p:nvSpPr>
          <p:cNvPr id="25" name="Box 25"/>
          <p:cNvSpPr/>
          <p:nvPr/>
        </p:nvSpPr>
        <p:spPr>
          <a:xfrm>
            <a:off x="1193688" y="1768710"/>
            <a:ext cx="305172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6" name="Text 26"/>
          <p:cNvSpPr/>
          <p:nvPr/>
        </p:nvSpPr>
        <p:spPr>
          <a:xfrm>
            <a:off x="1208688" y="1773710"/>
            <a:ext cx="302172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Baseline reproduction</a:t>
            </a:r>
          </a:p>
        </p:txBody>
      </p:sp>
      <p:sp>
        <p:nvSpPr>
          <p:cNvPr id="27" name="Box 27"/>
          <p:cNvSpPr/>
          <p:nvPr/>
        </p:nvSpPr>
        <p:spPr>
          <a:xfrm>
            <a:off x="4245408" y="1768710"/>
            <a:ext cx="404820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8" name="Text 28"/>
          <p:cNvSpPr/>
          <p:nvPr/>
        </p:nvSpPr>
        <p:spPr>
          <a:xfrm>
            <a:off x="4260408" y="1773710"/>
            <a:ext cx="401820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official metric table on 500 test images</a:t>
            </a:r>
          </a:p>
        </p:txBody>
      </p:sp>
      <p:sp>
        <p:nvSpPr>
          <p:cNvPr id="29" name="Box 29"/>
          <p:cNvSpPr/>
          <p:nvPr/>
        </p:nvSpPr>
        <p:spPr>
          <a:xfrm>
            <a:off x="384048" y="2232441"/>
            <a:ext cx="80964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0" name="Text 30"/>
          <p:cNvSpPr/>
          <p:nvPr/>
        </p:nvSpPr>
        <p:spPr>
          <a:xfrm>
            <a:off x="399048" y="2237441"/>
            <a:ext cx="77964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3</a:t>
            </a:r>
          </a:p>
        </p:txBody>
      </p:sp>
      <p:sp>
        <p:nvSpPr>
          <p:cNvPr id="31" name="Box 31"/>
          <p:cNvSpPr/>
          <p:nvPr/>
        </p:nvSpPr>
        <p:spPr>
          <a:xfrm>
            <a:off x="1193688" y="2232441"/>
            <a:ext cx="305172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2" name="Text 32"/>
          <p:cNvSpPr/>
          <p:nvPr/>
        </p:nvSpPr>
        <p:spPr>
          <a:xfrm>
            <a:off x="1208688" y="2237441"/>
            <a:ext cx="302172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Spectral view analysis</a:t>
            </a:r>
          </a:p>
        </p:txBody>
      </p:sp>
      <p:sp>
        <p:nvSpPr>
          <p:cNvPr id="33" name="Box 33"/>
          <p:cNvSpPr/>
          <p:nvPr/>
        </p:nvSpPr>
        <p:spPr>
          <a:xfrm>
            <a:off x="4245408" y="2232441"/>
            <a:ext cx="404820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4" name="Text 34"/>
          <p:cNvSpPr/>
          <p:nvPr/>
        </p:nvSpPr>
        <p:spPr>
          <a:xfrm>
            <a:off x="4260408" y="2237441"/>
            <a:ext cx="401820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false color vs S6/S7/S8 vs PCA views</a:t>
            </a:r>
          </a:p>
        </p:txBody>
      </p:sp>
      <p:sp>
        <p:nvSpPr>
          <p:cNvPr id="35" name="Box 35"/>
          <p:cNvSpPr/>
          <p:nvPr/>
        </p:nvSpPr>
        <p:spPr>
          <a:xfrm>
            <a:off x="384048" y="2696172"/>
            <a:ext cx="80964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6" name="Text 36"/>
          <p:cNvSpPr/>
          <p:nvPr/>
        </p:nvSpPr>
        <p:spPr>
          <a:xfrm>
            <a:off x="399048" y="2701172"/>
            <a:ext cx="77964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4</a:t>
            </a:r>
          </a:p>
        </p:txBody>
      </p:sp>
      <p:sp>
        <p:nvSpPr>
          <p:cNvPr id="37" name="Box 37"/>
          <p:cNvSpPr/>
          <p:nvPr/>
        </p:nvSpPr>
        <p:spPr>
          <a:xfrm>
            <a:off x="1193688" y="2696172"/>
            <a:ext cx="305172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8" name="Text 38"/>
          <p:cNvSpPr/>
          <p:nvPr/>
        </p:nvSpPr>
        <p:spPr>
          <a:xfrm>
            <a:off x="1208688" y="2701172"/>
            <a:ext cx="302172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Foundation-model promptability</a:t>
            </a:r>
          </a:p>
        </p:txBody>
      </p:sp>
      <p:sp>
        <p:nvSpPr>
          <p:cNvPr id="39" name="Box 39"/>
          <p:cNvSpPr/>
          <p:nvPr/>
        </p:nvSpPr>
        <p:spPr>
          <a:xfrm>
            <a:off x="4245408" y="2696172"/>
            <a:ext cx="404820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0" name="Text 40"/>
          <p:cNvSpPr/>
          <p:nvPr/>
        </p:nvSpPr>
        <p:spPr>
          <a:xfrm>
            <a:off x="4260408" y="2701172"/>
            <a:ext cx="401820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SAM/SAM2 prompt sensitivity</a:t>
            </a:r>
          </a:p>
        </p:txBody>
      </p:sp>
      <p:sp>
        <p:nvSpPr>
          <p:cNvPr id="41" name="Box 41"/>
          <p:cNvSpPr/>
          <p:nvPr/>
        </p:nvSpPr>
        <p:spPr>
          <a:xfrm>
            <a:off x="384048" y="3159903"/>
            <a:ext cx="80964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2" name="Text 42"/>
          <p:cNvSpPr/>
          <p:nvPr/>
        </p:nvSpPr>
        <p:spPr>
          <a:xfrm>
            <a:off x="399048" y="3164903"/>
            <a:ext cx="77964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5</a:t>
            </a:r>
          </a:p>
        </p:txBody>
      </p:sp>
      <p:sp>
        <p:nvSpPr>
          <p:cNvPr id="43" name="Box 43"/>
          <p:cNvSpPr/>
          <p:nvPr/>
        </p:nvSpPr>
        <p:spPr>
          <a:xfrm>
            <a:off x="1193688" y="3159903"/>
            <a:ext cx="305172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4" name="Text 44"/>
          <p:cNvSpPr/>
          <p:nvPr/>
        </p:nvSpPr>
        <p:spPr>
          <a:xfrm>
            <a:off x="1208688" y="3164903"/>
            <a:ext cx="302172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Spectral degradation robustness</a:t>
            </a:r>
          </a:p>
        </p:txBody>
      </p:sp>
      <p:sp>
        <p:nvSpPr>
          <p:cNvPr id="45" name="Box 45"/>
          <p:cNvSpPr/>
          <p:nvPr/>
        </p:nvSpPr>
        <p:spPr>
          <a:xfrm>
            <a:off x="4245408" y="3159903"/>
            <a:ext cx="404820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6" name="Text 46"/>
          <p:cNvSpPr/>
          <p:nvPr/>
        </p:nvSpPr>
        <p:spPr>
          <a:xfrm>
            <a:off x="4260408" y="3164903"/>
            <a:ext cx="401820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band drop/noise/misalignment curves</a:t>
            </a:r>
          </a:p>
        </p:txBody>
      </p:sp>
      <p:sp>
        <p:nvSpPr>
          <p:cNvPr id="47" name="Box 47"/>
          <p:cNvSpPr/>
          <p:nvPr/>
        </p:nvSpPr>
        <p:spPr>
          <a:xfrm>
            <a:off x="384048" y="3623634"/>
            <a:ext cx="80964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8" name="Text 48"/>
          <p:cNvSpPr/>
          <p:nvPr/>
        </p:nvSpPr>
        <p:spPr>
          <a:xfrm>
            <a:off x="399048" y="3628634"/>
            <a:ext cx="77964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6</a:t>
            </a:r>
          </a:p>
        </p:txBody>
      </p:sp>
      <p:sp>
        <p:nvSpPr>
          <p:cNvPr id="49" name="Box 49"/>
          <p:cNvSpPr/>
          <p:nvPr/>
        </p:nvSpPr>
        <p:spPr>
          <a:xfrm>
            <a:off x="1193688" y="3623634"/>
            <a:ext cx="305172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0" name="Text 50"/>
          <p:cNvSpPr/>
          <p:nvPr/>
        </p:nvSpPr>
        <p:spPr>
          <a:xfrm>
            <a:off x="1208688" y="3628634"/>
            <a:ext cx="302172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Attribute-wise failure analysis</a:t>
            </a:r>
          </a:p>
        </p:txBody>
      </p:sp>
      <p:sp>
        <p:nvSpPr>
          <p:cNvPr id="51" name="Box 51"/>
          <p:cNvSpPr/>
          <p:nvPr/>
        </p:nvSpPr>
        <p:spPr>
          <a:xfrm>
            <a:off x="4245408" y="3623634"/>
            <a:ext cx="4048200" cy="4637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2" name="Text 52"/>
          <p:cNvSpPr/>
          <p:nvPr/>
        </p:nvSpPr>
        <p:spPr>
          <a:xfrm>
            <a:off x="4260408" y="3628634"/>
            <a:ext cx="4018200" cy="453731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0">
                <a:solidFill>
                  <a:srgbClr val="17202A"/>
                </a:solidFill>
                <a:latin typeface="Aptos"/>
              </a:rPr>
              <a:t>SO/EI/BS/CB breakdown and examples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B6E6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4" name="Text 4"/>
          <p:cNvSpPr/>
          <p:nvPr/>
        </p:nvSpPr>
        <p:spPr>
          <a:xfrm>
            <a:off x="256032" y="164592"/>
            <a:ext cx="6949440" cy="384048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>
                <a:solidFill>
                  <a:srgbClr val="17202A"/>
                </a:solidFill>
                <a:latin typeface="Aptos"/>
              </a:rPr>
              <a:t>Contributions And Takeaway</a:t>
            </a:r>
          </a:p>
        </p:txBody>
      </p:sp>
      <p:sp>
        <p:nvSpPr>
          <p:cNvPr id="5" name="Text 5"/>
          <p:cNvSpPr/>
          <p:nvPr/>
        </p:nvSpPr>
        <p:spPr>
          <a:xfrm>
            <a:off x="7543800" y="201168"/>
            <a:ext cx="1234440" cy="25603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17/17</a:t>
            </a:r>
          </a:p>
        </p:txBody>
      </p:sp>
      <p:sp>
        <p:nvSpPr>
          <p:cNvPr id="6" name="Box 6"/>
          <p:cNvSpPr/>
          <p:nvPr/>
        </p:nvSpPr>
        <p:spPr>
          <a:xfrm>
            <a:off x="256032" y="603504"/>
            <a:ext cx="8302752" cy="10972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7" name="Text 7"/>
          <p:cNvSpPr/>
          <p:nvPr/>
        </p:nvSpPr>
        <p:spPr>
          <a:xfrm>
            <a:off x="274320" y="530352"/>
            <a:ext cx="7772400" cy="2286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800" b="0">
                <a:solidFill>
                  <a:srgbClr val="5D6D7E"/>
                </a:solidFill>
                <a:latin typeface="Aptos"/>
              </a:rPr>
              <a:t>What this project can credibly claim now</a:t>
            </a:r>
          </a:p>
        </p:txBody>
      </p:sp>
      <p:sp>
        <p:nvSpPr>
          <p:cNvPr id="11" name="Text 11"/>
          <p:cNvSpPr/>
          <p:nvPr/>
        </p:nvSpPr>
        <p:spPr>
          <a:xfrm>
            <a:off x="502920" y="932688"/>
            <a:ext cx="7498079" cy="1828800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b="0">
                <a:solidFill>
                  <a:srgbClr val="17202A"/>
                </a:solidFill>
                <a:latin typeface="Aptos"/>
              </a:rPr>
              <a:t>1. MCOD paper review establishes the research gap: RGB COD lacks spectral evidence.</a:t>
            </a:r>
          </a:p>
          <a:p>
            <a:pPr algn="l">
              <a:lnSpc>
                <a:spcPct val="108000"/>
              </a:lnSpc>
            </a:pPr>
            <a:r>
              <a:rPr lang="en-US" sz="1400" b="0">
                <a:solidFill>
                  <a:srgbClr val="17202A"/>
                </a:solidFill>
                <a:latin typeface="Aptos"/>
              </a:rPr>
              <a:t>2. Repo now contains a corrected MCOD_resized working dataset with verified split, counts, masks, and resolution.</a:t>
            </a:r>
          </a:p>
          <a:p>
            <a:pPr algn="l">
              <a:lnSpc>
                <a:spcPct val="108000"/>
              </a:lnSpc>
            </a:pPr>
            <a:r>
              <a:rPr lang="en-US" sz="1400" b="0">
                <a:solidFill>
                  <a:srgbClr val="17202A"/>
                </a:solidFill>
                <a:latin typeface="Aptos"/>
              </a:rPr>
              <a:t>3. process_dataset.py creates multiple MSI-to-RGB and tensor-native views for controlled experiments.</a:t>
            </a:r>
          </a:p>
          <a:p>
            <a:pPr algn="l">
              <a:lnSpc>
                <a:spcPct val="108000"/>
              </a:lnSpc>
            </a:pPr>
            <a:r>
              <a:rPr lang="en-US" sz="1400" b="0">
                <a:solidFill>
                  <a:srgbClr val="17202A"/>
                </a:solidFill>
                <a:latin typeface="Aptos"/>
              </a:rPr>
              <a:t>4. Existing MSIResults predictions cover all 500 test images for 11 baseline methods.</a:t>
            </a:r>
          </a:p>
          <a:p>
            <a:pPr algn="l">
              <a:lnSpc>
                <a:spcPct val="108000"/>
              </a:lnSpc>
            </a:pPr>
            <a:r>
              <a:rPr lang="en-US" sz="1400" b="0">
                <a:solidFill>
                  <a:srgbClr val="17202A"/>
                </a:solidFill>
                <a:latin typeface="Aptos"/>
              </a:rPr>
              <a:t>5. Next research value comes from attribute-wise and spectral-degradation robustness experiments.</a:t>
            </a:r>
          </a:p>
        </p:txBody>
      </p:sp>
      <p:sp>
        <p:nvSpPr>
          <p:cNvPr id="12" name="Box 12"/>
          <p:cNvSpPr/>
          <p:nvPr/>
        </p:nvSpPr>
        <p:spPr>
          <a:xfrm>
            <a:off x="548640" y="3337560"/>
            <a:ext cx="7315200" cy="621792"/>
          </a:xfrm>
          <a:prstGeom prst="roundRect">
            <a:avLst/>
          </a:prstGeom>
          <a:solidFill>
            <a:srgbClr val="EEF3F2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/>
          <p:nvPr/>
        </p:nvSpPr>
        <p:spPr>
          <a:xfrm>
            <a:off x="713232" y="3438144"/>
            <a:ext cx="6903720" cy="347472"/>
          </a:xfrm>
          <a:prstGeom prst="rect">
            <a:avLst/>
          </a:prstGeom>
          <a:noFill/>
          <a:ln w="0">
            <a:noFill/>
          </a:ln>
        </p:spPr>
        <p:txBody>
          <a:bodyPr lIns="45000" tIns="30000" rIns="45000" bIns="3000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b="1">
                <a:solidFill>
                  <a:srgbClr val="0B6E69"/>
                </a:solidFill>
                <a:latin typeface="Aptos"/>
              </a:rPr>
              <a:t>One-sentence thesis: MCOD makes camouflage detection a spectral robustness problem, not only an RGB segmentation problem.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17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2026-05-26T11:12:42Z</dcterms:created>
  <dc:creator>PptxGenJS</dc:creator>
  <dc:description/>
  <dc:language>en-US</dc:language>
  <cp:lastModifiedBy/>
  <dcterms:modified xsi:type="dcterms:W3CDTF">2026-06-04T10:56:47Z</dcterms:modified>
  <cp:revision>2</cp:revision>
  <dc:subject>PptxGenJS Presentation</dc:subject>
  <dc:title>Camouflage Military Object Detection: DFAN &amp; SINet-V2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